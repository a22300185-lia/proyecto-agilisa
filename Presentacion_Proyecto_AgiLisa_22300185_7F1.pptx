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8288000" cy="10287000"/>
  <p:notesSz cx="6858000" cy="9144000"/>
  <p:embeddedFontLst>
    <p:embeddedFont>
      <p:font typeface="TT Drugs" panose="020B0604020202020204" charset="0"/>
      <p:regular r:id="rId19"/>
    </p:embeddedFont>
    <p:embeddedFont>
      <p:font typeface="TT Drug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76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.mx" TargetMode="External"/><Relationship Id="rId7" Type="http://schemas.openxmlformats.org/officeDocument/2006/relationships/hyperlink" Target="https://dev.mysql.com/doc/" TargetMode="External"/><Relationship Id="rId2" Type="http://schemas.openxmlformats.org/officeDocument/2006/relationships/hyperlink" Target="https://www.asociaciondeinternet.mx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ngroup.com" TargetMode="External"/><Relationship Id="rId5" Type="http://schemas.openxmlformats.org/officeDocument/2006/relationships/hyperlink" Target="https://www.lucidchart.com" TargetMode="External"/><Relationship Id="rId4" Type="http://schemas.openxmlformats.org/officeDocument/2006/relationships/hyperlink" Target="https://www.gartner.co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rtex42.com/ExcelTemplates/simple-gantt-chart.htm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2370" y="942173"/>
            <a:ext cx="10187166" cy="5163762"/>
            <a:chOff x="0" y="0"/>
            <a:chExt cx="13582888" cy="688501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3582888" cy="518100"/>
              <a:chOff x="0" y="0"/>
              <a:chExt cx="2683040" cy="10234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683040" cy="102341"/>
              </a:xfrm>
              <a:custGeom>
                <a:avLst/>
                <a:gdLst/>
                <a:ahLst/>
                <a:cxnLst/>
                <a:rect l="l" t="t" r="r" b="b"/>
                <a:pathLst>
                  <a:path w="2683040" h="102341">
                    <a:moveTo>
                      <a:pt x="0" y="0"/>
                    </a:moveTo>
                    <a:lnTo>
                      <a:pt x="2683040" y="0"/>
                    </a:lnTo>
                    <a:lnTo>
                      <a:pt x="2683040" y="102341"/>
                    </a:lnTo>
                    <a:lnTo>
                      <a:pt x="0" y="102341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683040" cy="121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440714" cy="6885016"/>
              <a:chOff x="0" y="0"/>
              <a:chExt cx="87055" cy="136000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7055" cy="1360003"/>
              </a:xfrm>
              <a:custGeom>
                <a:avLst/>
                <a:gdLst/>
                <a:ahLst/>
                <a:cxnLst/>
                <a:rect l="l" t="t" r="r" b="b"/>
                <a:pathLst>
                  <a:path w="87055" h="1360003">
                    <a:moveTo>
                      <a:pt x="0" y="0"/>
                    </a:moveTo>
                    <a:lnTo>
                      <a:pt x="87055" y="0"/>
                    </a:lnTo>
                    <a:lnTo>
                      <a:pt x="87055" y="1360003"/>
                    </a:lnTo>
                    <a:lnTo>
                      <a:pt x="0" y="1360003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19050"/>
                <a:ext cx="87055" cy="13790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 rot="-10800000">
            <a:off x="7072134" y="4265953"/>
            <a:ext cx="10187166" cy="5163762"/>
            <a:chOff x="0" y="0"/>
            <a:chExt cx="13582888" cy="688501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582888" cy="518100"/>
              <a:chOff x="0" y="0"/>
              <a:chExt cx="2683040" cy="10234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683040" cy="102341"/>
              </a:xfrm>
              <a:custGeom>
                <a:avLst/>
                <a:gdLst/>
                <a:ahLst/>
                <a:cxnLst/>
                <a:rect l="l" t="t" r="r" b="b"/>
                <a:pathLst>
                  <a:path w="2683040" h="102341">
                    <a:moveTo>
                      <a:pt x="0" y="0"/>
                    </a:moveTo>
                    <a:lnTo>
                      <a:pt x="2683040" y="0"/>
                    </a:lnTo>
                    <a:lnTo>
                      <a:pt x="2683040" y="102341"/>
                    </a:lnTo>
                    <a:lnTo>
                      <a:pt x="0" y="102341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19050"/>
                <a:ext cx="2683040" cy="1213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440714" cy="6885016"/>
              <a:chOff x="0" y="0"/>
              <a:chExt cx="87055" cy="136000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7055" cy="1360003"/>
              </a:xfrm>
              <a:custGeom>
                <a:avLst/>
                <a:gdLst/>
                <a:ahLst/>
                <a:cxnLst/>
                <a:rect l="l" t="t" r="r" b="b"/>
                <a:pathLst>
                  <a:path w="87055" h="1360003">
                    <a:moveTo>
                      <a:pt x="0" y="0"/>
                    </a:moveTo>
                    <a:lnTo>
                      <a:pt x="87055" y="0"/>
                    </a:lnTo>
                    <a:lnTo>
                      <a:pt x="87055" y="1360003"/>
                    </a:lnTo>
                    <a:lnTo>
                      <a:pt x="0" y="1360003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87055" cy="13790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5396065" y="1684168"/>
            <a:ext cx="7704896" cy="2819169"/>
            <a:chOff x="0" y="0"/>
            <a:chExt cx="2569947" cy="9403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69947" cy="940326"/>
            </a:xfrm>
            <a:custGeom>
              <a:avLst/>
              <a:gdLst/>
              <a:ahLst/>
              <a:cxnLst/>
              <a:rect l="l" t="t" r="r" b="b"/>
              <a:pathLst>
                <a:path w="2569947" h="940326">
                  <a:moveTo>
                    <a:pt x="0" y="0"/>
                  </a:moveTo>
                  <a:lnTo>
                    <a:pt x="2569947" y="0"/>
                  </a:lnTo>
                  <a:lnTo>
                    <a:pt x="2569947" y="940326"/>
                  </a:lnTo>
                  <a:lnTo>
                    <a:pt x="0" y="9403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569947" cy="959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230133" y="-1163266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20" name="Group 20"/>
          <p:cNvGrpSpPr/>
          <p:nvPr/>
        </p:nvGrpSpPr>
        <p:grpSpPr>
          <a:xfrm>
            <a:off x="-2517652" y="7482785"/>
            <a:ext cx="7092705" cy="709270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28966" y="-3851171"/>
            <a:ext cx="5773349" cy="5773349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732227" y="8094559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20" y="0"/>
                </a:lnTo>
                <a:lnTo>
                  <a:pt x="4687320" y="4687319"/>
                </a:lnTo>
                <a:lnTo>
                  <a:pt x="0" y="4687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7" name="Freeform 27"/>
          <p:cNvSpPr/>
          <p:nvPr/>
        </p:nvSpPr>
        <p:spPr>
          <a:xfrm>
            <a:off x="15230133" y="7390393"/>
            <a:ext cx="1597542" cy="1516508"/>
          </a:xfrm>
          <a:custGeom>
            <a:avLst/>
            <a:gdLst/>
            <a:ahLst/>
            <a:cxnLst/>
            <a:rect l="l" t="t" r="r" b="b"/>
            <a:pathLst>
              <a:path w="1597542" h="1516508">
                <a:moveTo>
                  <a:pt x="0" y="0"/>
                </a:moveTo>
                <a:lnTo>
                  <a:pt x="1597542" y="0"/>
                </a:lnTo>
                <a:lnTo>
                  <a:pt x="1597542" y="1516508"/>
                </a:lnTo>
                <a:lnTo>
                  <a:pt x="0" y="1516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8" name="Freeform 28"/>
          <p:cNvSpPr/>
          <p:nvPr/>
        </p:nvSpPr>
        <p:spPr>
          <a:xfrm>
            <a:off x="1516528" y="1431172"/>
            <a:ext cx="2060262" cy="1592021"/>
          </a:xfrm>
          <a:custGeom>
            <a:avLst/>
            <a:gdLst/>
            <a:ahLst/>
            <a:cxnLst/>
            <a:rect l="l" t="t" r="r" b="b"/>
            <a:pathLst>
              <a:path w="2060262" h="1592021">
                <a:moveTo>
                  <a:pt x="0" y="0"/>
                </a:moveTo>
                <a:lnTo>
                  <a:pt x="2060262" y="0"/>
                </a:lnTo>
                <a:lnTo>
                  <a:pt x="2060262" y="1592021"/>
                </a:lnTo>
                <a:lnTo>
                  <a:pt x="0" y="15920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9" name="TextBox 29"/>
          <p:cNvSpPr txBox="1"/>
          <p:nvPr/>
        </p:nvSpPr>
        <p:spPr>
          <a:xfrm>
            <a:off x="5602133" y="1941228"/>
            <a:ext cx="7242963" cy="229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73"/>
              </a:lnSpc>
            </a:pPr>
            <a:r>
              <a:rPr lang="en-US" sz="3810">
                <a:solidFill>
                  <a:srgbClr val="010101"/>
                </a:solidFill>
                <a:latin typeface="TT Drugs"/>
                <a:ea typeface="TT Drugs"/>
                <a:cs typeface="TT Drugs"/>
                <a:sym typeface="TT Drugs"/>
              </a:rPr>
              <a:t>Sitio Web para la Gestión de Servicios y Cotizaciones de "Ejecutores en Limpieza Industrial ELISA"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46842" y="5392610"/>
            <a:ext cx="7553545" cy="45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Lia Zoe Perez Villaseñor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71741" y="4814944"/>
            <a:ext cx="7553545" cy="456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“AgiLisa”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02133" y="6048785"/>
            <a:ext cx="7242963" cy="92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2"/>
              </a:lnSpc>
            </a:pPr>
            <a:r>
              <a:rPr lang="en-US" sz="2666" spc="133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CENTRO DE ENSEÑANZA TÉCNICA INDUSTRIAL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27032" y="7171684"/>
            <a:ext cx="7242963" cy="922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Asesor Metodológico: Rodríguez De la Torre Celia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2994" y="337474"/>
            <a:ext cx="4296549" cy="9570246"/>
            <a:chOff x="0" y="0"/>
            <a:chExt cx="1131601" cy="25205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1601" cy="2520559"/>
            </a:xfrm>
            <a:custGeom>
              <a:avLst/>
              <a:gdLst/>
              <a:ahLst/>
              <a:cxnLst/>
              <a:rect l="l" t="t" r="r" b="b"/>
              <a:pathLst>
                <a:path w="1131601" h="2520559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8888" y="337474"/>
            <a:ext cx="7938009" cy="1145263"/>
            <a:chOff x="0" y="0"/>
            <a:chExt cx="3781225" cy="5455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81225" cy="545539"/>
            </a:xfrm>
            <a:custGeom>
              <a:avLst/>
              <a:gdLst/>
              <a:ahLst/>
              <a:cxnLst/>
              <a:rect l="l" t="t" r="r" b="b"/>
              <a:pathLst>
                <a:path w="3781225" h="545539">
                  <a:moveTo>
                    <a:pt x="203200" y="0"/>
                  </a:moveTo>
                  <a:lnTo>
                    <a:pt x="3781225" y="0"/>
                  </a:lnTo>
                  <a:lnTo>
                    <a:pt x="3578025" y="545539"/>
                  </a:lnTo>
                  <a:lnTo>
                    <a:pt x="0" y="54553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71B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19050"/>
              <a:ext cx="3578025" cy="564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960411" y="796376"/>
            <a:ext cx="4730021" cy="8367104"/>
          </a:xfrm>
          <a:custGeom>
            <a:avLst/>
            <a:gdLst/>
            <a:ahLst/>
            <a:cxnLst/>
            <a:rect l="l" t="t" r="r" b="b"/>
            <a:pathLst>
              <a:path w="4730021" h="8367104">
                <a:moveTo>
                  <a:pt x="0" y="0"/>
                </a:moveTo>
                <a:lnTo>
                  <a:pt x="4730021" y="0"/>
                </a:lnTo>
                <a:lnTo>
                  <a:pt x="4730021" y="8367104"/>
                </a:lnTo>
                <a:lnTo>
                  <a:pt x="0" y="8367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35" r="-16335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1028700" y="2607070"/>
            <a:ext cx="5650234" cy="151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19"/>
              </a:lnSpc>
            </a:pP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Es una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empresa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servicios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B2B (Business-to-Business) en la ZMG. </a:t>
            </a:r>
          </a:p>
          <a:p>
            <a:pPr algn="just">
              <a:lnSpc>
                <a:spcPts val="2419"/>
              </a:lnSpc>
              <a:spcBef>
                <a:spcPct val="0"/>
              </a:spcBef>
            </a:pP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Especialistas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en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limpieza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industrial,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oficinas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, post-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obra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en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alturas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marL="0" lvl="0" indent="0" algn="just">
              <a:lnSpc>
                <a:spcPts val="2419"/>
              </a:lnSpc>
              <a:spcBef>
                <a:spcPct val="0"/>
              </a:spcBef>
            </a:pPr>
            <a:endParaRPr lang="en-US" sz="1753" spc="171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32138" y="1712976"/>
            <a:ext cx="2733817" cy="694069"/>
            <a:chOff x="0" y="0"/>
            <a:chExt cx="6146640" cy="1560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46673" cy="1560559"/>
            </a:xfrm>
            <a:custGeom>
              <a:avLst/>
              <a:gdLst/>
              <a:ahLst/>
              <a:cxnLst/>
              <a:rect l="l" t="t" r="r" b="b"/>
              <a:pathLst>
                <a:path w="6146673" h="1560559">
                  <a:moveTo>
                    <a:pt x="4943221" y="0"/>
                  </a:moveTo>
                  <a:cubicBezTo>
                    <a:pt x="1211072" y="0"/>
                    <a:pt x="1211072" y="0"/>
                    <a:pt x="1211072" y="0"/>
                  </a:cubicBezTo>
                  <a:cubicBezTo>
                    <a:pt x="556006" y="0"/>
                    <a:pt x="15240" y="351734"/>
                    <a:pt x="15240" y="777796"/>
                  </a:cubicBezTo>
                  <a:cubicBezTo>
                    <a:pt x="15240" y="916541"/>
                    <a:pt x="68580" y="1045292"/>
                    <a:pt x="167513" y="1159261"/>
                  </a:cubicBezTo>
                  <a:cubicBezTo>
                    <a:pt x="0" y="1471354"/>
                    <a:pt x="0" y="1471354"/>
                    <a:pt x="0" y="1471354"/>
                  </a:cubicBezTo>
                  <a:cubicBezTo>
                    <a:pt x="502666" y="1406937"/>
                    <a:pt x="502666" y="1406937"/>
                    <a:pt x="502666" y="1406937"/>
                  </a:cubicBezTo>
                  <a:cubicBezTo>
                    <a:pt x="700659" y="1501085"/>
                    <a:pt x="951992" y="1560559"/>
                    <a:pt x="1211072" y="1560559"/>
                  </a:cubicBezTo>
                  <a:cubicBezTo>
                    <a:pt x="4943221" y="1560559"/>
                    <a:pt x="4943221" y="1560559"/>
                    <a:pt x="4943221" y="1560559"/>
                  </a:cubicBezTo>
                  <a:cubicBezTo>
                    <a:pt x="5605907" y="1560559"/>
                    <a:pt x="6146673" y="1208813"/>
                    <a:pt x="6146673" y="777796"/>
                  </a:cubicBezTo>
                  <a:cubicBezTo>
                    <a:pt x="6146673" y="351734"/>
                    <a:pt x="5605907" y="0"/>
                    <a:pt x="4943221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59611"/>
            <a:ext cx="3495892" cy="353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9"/>
              </a:lnSpc>
              <a:spcBef>
                <a:spcPct val="0"/>
              </a:spcBef>
            </a:pPr>
            <a:r>
              <a:rPr lang="en-US" sz="2050" b="1" spc="200">
                <a:solidFill>
                  <a:srgbClr val="FFFAEB"/>
                </a:solidFill>
                <a:latin typeface="TT Drugs Bold"/>
                <a:ea typeface="TT Drugs Bold"/>
                <a:cs typeface="TT Drugs Bold"/>
                <a:sym typeface="TT Drugs Bold"/>
              </a:rPr>
              <a:t>¿QUIÉNES SON?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138" y="5505450"/>
            <a:ext cx="7665852" cy="364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8581" lvl="1" indent="-189290" algn="just">
              <a:lnSpc>
                <a:spcPts val="2419"/>
              </a:lnSpc>
              <a:buFont typeface="Arial"/>
              <a:buChar char="•"/>
            </a:pPr>
            <a:r>
              <a:rPr lang="en-US" b="1" spc="17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Gestión 100% Manual: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Cotizaciones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clientes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se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manejan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por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correo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, Excel o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libretas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algn="just">
              <a:lnSpc>
                <a:spcPts val="2419"/>
              </a:lnSpc>
            </a:pPr>
            <a:endParaRPr lang="en-US" spc="171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marL="378581" lvl="1" indent="-189290" algn="just">
              <a:lnSpc>
                <a:spcPts val="2419"/>
              </a:lnSpc>
              <a:buFont typeface="Arial"/>
              <a:buChar char="•"/>
            </a:pPr>
            <a:r>
              <a:rPr lang="en-US" b="1" spc="17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Proceso</a:t>
            </a:r>
            <a:r>
              <a:rPr lang="en-US" b="1" spc="17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Lento: 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El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tiempo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respuesta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a un cliente potencial es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muy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alto,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perdiendo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oportunidades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algn="just">
              <a:lnSpc>
                <a:spcPts val="2419"/>
              </a:lnSpc>
            </a:pPr>
            <a:endParaRPr lang="en-US" spc="171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marL="378581" lvl="1" indent="-189290" algn="just">
              <a:lnSpc>
                <a:spcPts val="2419"/>
              </a:lnSpc>
              <a:buFont typeface="Arial"/>
              <a:buChar char="•"/>
            </a:pPr>
            <a:r>
              <a:rPr lang="en-US" b="1" spc="17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Sin Datos: 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No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existe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un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registro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central (CRM)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clientes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o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historial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cotizaciones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algn="just">
              <a:lnSpc>
                <a:spcPts val="2419"/>
              </a:lnSpc>
            </a:pPr>
            <a:endParaRPr lang="en-US" spc="171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  <a:p>
            <a:pPr marL="378581" lvl="1" indent="-189290" algn="just">
              <a:lnSpc>
                <a:spcPts val="2419"/>
              </a:lnSpc>
              <a:buFont typeface="Arial"/>
              <a:buChar char="•"/>
            </a:pPr>
            <a:r>
              <a:rPr lang="en-US" b="1" spc="17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Alcance</a:t>
            </a:r>
            <a:r>
              <a:rPr lang="en-US" b="1" spc="17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b="1" spc="17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Limitado</a:t>
            </a:r>
            <a:r>
              <a:rPr lang="en-US" b="1" spc="17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: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La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captación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clientes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depende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solo de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referencias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pc="17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personales</a:t>
            </a:r>
            <a:r>
              <a:rPr lang="en-US" spc="17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marL="0" lvl="0" indent="0" algn="just">
              <a:lnSpc>
                <a:spcPts val="2419"/>
              </a:lnSpc>
              <a:spcBef>
                <a:spcPct val="0"/>
              </a:spcBef>
            </a:pPr>
            <a:endParaRPr lang="en-US" sz="1753" spc="171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832138" y="4683174"/>
            <a:ext cx="4169643" cy="725292"/>
            <a:chOff x="0" y="0"/>
            <a:chExt cx="8971338" cy="15605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71370" cy="1560559"/>
            </a:xfrm>
            <a:custGeom>
              <a:avLst/>
              <a:gdLst/>
              <a:ahLst/>
              <a:cxnLst/>
              <a:rect l="l" t="t" r="r" b="b"/>
              <a:pathLst>
                <a:path w="8971370" h="1560559">
                  <a:moveTo>
                    <a:pt x="7214886" y="0"/>
                  </a:moveTo>
                  <a:cubicBezTo>
                    <a:pt x="1767622" y="0"/>
                    <a:pt x="1767622" y="0"/>
                    <a:pt x="1767622" y="0"/>
                  </a:cubicBezTo>
                  <a:cubicBezTo>
                    <a:pt x="811519" y="0"/>
                    <a:pt x="22244" y="351734"/>
                    <a:pt x="22244" y="777796"/>
                  </a:cubicBezTo>
                  <a:cubicBezTo>
                    <a:pt x="22244" y="916541"/>
                    <a:pt x="100096" y="1045292"/>
                    <a:pt x="244494" y="1159261"/>
                  </a:cubicBezTo>
                  <a:cubicBezTo>
                    <a:pt x="0" y="1471354"/>
                    <a:pt x="0" y="1471354"/>
                    <a:pt x="0" y="1471354"/>
                  </a:cubicBezTo>
                  <a:cubicBezTo>
                    <a:pt x="733667" y="1406937"/>
                    <a:pt x="733667" y="1406937"/>
                    <a:pt x="733667" y="1406937"/>
                  </a:cubicBezTo>
                  <a:cubicBezTo>
                    <a:pt x="1022648" y="1501085"/>
                    <a:pt x="1389481" y="1560559"/>
                    <a:pt x="1767622" y="1560559"/>
                  </a:cubicBezTo>
                  <a:cubicBezTo>
                    <a:pt x="7214886" y="1560559"/>
                    <a:pt x="7214886" y="1560559"/>
                    <a:pt x="7214886" y="1560559"/>
                  </a:cubicBezTo>
                  <a:cubicBezTo>
                    <a:pt x="8182110" y="1560559"/>
                    <a:pt x="8971370" y="1208813"/>
                    <a:pt x="8971370" y="777796"/>
                  </a:cubicBezTo>
                  <a:cubicBezTo>
                    <a:pt x="8971370" y="351734"/>
                    <a:pt x="8182110" y="0"/>
                    <a:pt x="7214886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4845421"/>
            <a:ext cx="4511166" cy="353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29"/>
              </a:lnSpc>
              <a:spcBef>
                <a:spcPct val="0"/>
              </a:spcBef>
            </a:pPr>
            <a:r>
              <a:rPr lang="en-US" sz="2050" b="1" spc="200">
                <a:solidFill>
                  <a:srgbClr val="FFFAEB"/>
                </a:solidFill>
                <a:latin typeface="TT Drugs Bold"/>
                <a:ea typeface="TT Drugs Bold"/>
                <a:cs typeface="TT Drugs Bold"/>
                <a:sym typeface="TT Drugs Bold"/>
              </a:rPr>
              <a:t>PROBLEMAS CENTRALES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723" y="533494"/>
            <a:ext cx="8173105" cy="70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050" b="1" spc="200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EMPRESA Y PROBLEMATICA: </a:t>
            </a:r>
          </a:p>
          <a:p>
            <a:pPr marL="0" lvl="0" indent="0" algn="l">
              <a:lnSpc>
                <a:spcPts val="2829"/>
              </a:lnSpc>
              <a:spcBef>
                <a:spcPct val="0"/>
              </a:spcBef>
            </a:pPr>
            <a:r>
              <a:rPr lang="en-US" sz="2050" b="1" spc="200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EJECUTORES EN LIMPIEZA INDUSTRIAL ELISA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2983" y="651750"/>
            <a:ext cx="5693155" cy="98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5813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Justificación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29138" y="2362278"/>
            <a:ext cx="6060690" cy="928738"/>
            <a:chOff x="0" y="0"/>
            <a:chExt cx="1714778" cy="2627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14778" cy="262772"/>
            </a:xfrm>
            <a:custGeom>
              <a:avLst/>
              <a:gdLst/>
              <a:ahLst/>
              <a:cxnLst/>
              <a:rect l="l" t="t" r="r" b="b"/>
              <a:pathLst>
                <a:path w="1714778" h="262772">
                  <a:moveTo>
                    <a:pt x="1511578" y="0"/>
                  </a:moveTo>
                  <a:lnTo>
                    <a:pt x="0" y="0"/>
                  </a:lnTo>
                  <a:lnTo>
                    <a:pt x="0" y="262772"/>
                  </a:lnTo>
                  <a:lnTo>
                    <a:pt x="1511578" y="262772"/>
                  </a:lnTo>
                  <a:lnTo>
                    <a:pt x="1714778" y="131386"/>
                  </a:lnTo>
                  <a:lnTo>
                    <a:pt x="1511578" y="0"/>
                  </a:lnTo>
                  <a:close/>
                </a:path>
              </a:pathLst>
            </a:custGeom>
            <a:solidFill>
              <a:srgbClr val="363F8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600478" cy="291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0" y="-449052"/>
            <a:ext cx="7262322" cy="2086267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0" y="0"/>
                </a:moveTo>
                <a:lnTo>
                  <a:pt x="7262322" y="0"/>
                </a:lnTo>
                <a:lnTo>
                  <a:pt x="7262322" y="2086267"/>
                </a:lnTo>
                <a:lnTo>
                  <a:pt x="0" y="208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 rot="-10800000" flipH="1" flipV="1">
            <a:off x="11129059" y="8311773"/>
            <a:ext cx="7262322" cy="2086267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7262321" y="2086267"/>
                </a:moveTo>
                <a:lnTo>
                  <a:pt x="0" y="2086267"/>
                </a:lnTo>
                <a:lnTo>
                  <a:pt x="0" y="0"/>
                </a:lnTo>
                <a:lnTo>
                  <a:pt x="7262321" y="0"/>
                </a:lnTo>
                <a:lnTo>
                  <a:pt x="7262321" y="2086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8"/>
          <p:cNvGrpSpPr/>
          <p:nvPr/>
        </p:nvGrpSpPr>
        <p:grpSpPr>
          <a:xfrm>
            <a:off x="578443" y="3540627"/>
            <a:ext cx="1246377" cy="1246377"/>
            <a:chOff x="0" y="0"/>
            <a:chExt cx="1661836" cy="166183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661836" cy="1661836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346631" y="149869"/>
              <a:ext cx="1235366" cy="1267633"/>
            </a:xfrm>
            <a:custGeom>
              <a:avLst/>
              <a:gdLst/>
              <a:ahLst/>
              <a:cxnLst/>
              <a:rect l="l" t="t" r="r" b="b"/>
              <a:pathLst>
                <a:path w="1235366" h="1267633">
                  <a:moveTo>
                    <a:pt x="0" y="0"/>
                  </a:moveTo>
                  <a:lnTo>
                    <a:pt x="1235365" y="0"/>
                  </a:lnTo>
                  <a:lnTo>
                    <a:pt x="1235365" y="1267633"/>
                  </a:lnTo>
                  <a:lnTo>
                    <a:pt x="0" y="1267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8443" y="5331601"/>
            <a:ext cx="1246377" cy="1246377"/>
            <a:chOff x="0" y="0"/>
            <a:chExt cx="1661836" cy="16618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661836" cy="166183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53155" y="144741"/>
              <a:ext cx="1155526" cy="1196873"/>
            </a:xfrm>
            <a:custGeom>
              <a:avLst/>
              <a:gdLst/>
              <a:ahLst/>
              <a:cxnLst/>
              <a:rect l="l" t="t" r="r" b="b"/>
              <a:pathLst>
                <a:path w="1155526" h="1196873">
                  <a:moveTo>
                    <a:pt x="0" y="0"/>
                  </a:moveTo>
                  <a:lnTo>
                    <a:pt x="1155526" y="0"/>
                  </a:lnTo>
                  <a:lnTo>
                    <a:pt x="1155526" y="1196873"/>
                  </a:lnTo>
                  <a:lnTo>
                    <a:pt x="0" y="1196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8443" y="6906799"/>
            <a:ext cx="1246377" cy="1246377"/>
            <a:chOff x="0" y="0"/>
            <a:chExt cx="1661836" cy="1661836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661836" cy="166183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336428" y="304168"/>
              <a:ext cx="1049674" cy="1022955"/>
            </a:xfrm>
            <a:custGeom>
              <a:avLst/>
              <a:gdLst/>
              <a:ahLst/>
              <a:cxnLst/>
              <a:rect l="l" t="t" r="r" b="b"/>
              <a:pathLst>
                <a:path w="1049674" h="1022955">
                  <a:moveTo>
                    <a:pt x="0" y="0"/>
                  </a:moveTo>
                  <a:lnTo>
                    <a:pt x="1049674" y="0"/>
                  </a:lnTo>
                  <a:lnTo>
                    <a:pt x="1049674" y="1022955"/>
                  </a:lnTo>
                  <a:lnTo>
                    <a:pt x="0" y="1022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8443" y="8635112"/>
            <a:ext cx="1246377" cy="1246377"/>
            <a:chOff x="0" y="0"/>
            <a:chExt cx="1661836" cy="1661836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661836" cy="1661836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274964" y="232481"/>
              <a:ext cx="1111908" cy="1022955"/>
            </a:xfrm>
            <a:custGeom>
              <a:avLst/>
              <a:gdLst/>
              <a:ahLst/>
              <a:cxnLst/>
              <a:rect l="l" t="t" r="r" b="b"/>
              <a:pathLst>
                <a:path w="1111908" h="1022955">
                  <a:moveTo>
                    <a:pt x="0" y="0"/>
                  </a:moveTo>
                  <a:lnTo>
                    <a:pt x="1111908" y="0"/>
                  </a:lnTo>
                  <a:lnTo>
                    <a:pt x="1111908" y="1022956"/>
                  </a:lnTo>
                  <a:lnTo>
                    <a:pt x="0" y="1022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216277" y="3729202"/>
            <a:ext cx="7089375" cy="105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3"/>
              </a:lnSpc>
              <a:spcBef>
                <a:spcPct val="0"/>
              </a:spcBef>
            </a:pPr>
            <a:r>
              <a:rPr lang="en-US" sz="2060" b="1" spc="20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Eficiencia: </a:t>
            </a:r>
            <a:r>
              <a:rPr lang="en-US" sz="2060" spc="20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Automatizar el proceso de cotización para reducir el tiempo de respuesta de días a minutos.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8443" y="2609640"/>
            <a:ext cx="5015348" cy="386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24"/>
              </a:lnSpc>
              <a:spcBef>
                <a:spcPct val="0"/>
              </a:spcBef>
            </a:pPr>
            <a:r>
              <a:rPr lang="en-US" sz="2264" b="1" spc="221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¿POR QUÉ ESTE PROYECTO?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216277" y="5402076"/>
            <a:ext cx="7089375" cy="105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3"/>
              </a:lnSpc>
              <a:spcBef>
                <a:spcPct val="0"/>
              </a:spcBef>
            </a:pPr>
            <a:r>
              <a:rPr lang="en-US" sz="2060" b="1" spc="20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Profesionalizmo</a:t>
            </a:r>
            <a:r>
              <a:rPr lang="en-US" sz="2060" b="1" spc="20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: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Proyectar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una imagen digital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confiable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moderna, vital para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competir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por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contratos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industriales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216277" y="7153486"/>
            <a:ext cx="7089375" cy="70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3"/>
              </a:lnSpc>
              <a:spcBef>
                <a:spcPct val="0"/>
              </a:spcBef>
            </a:pPr>
            <a:r>
              <a:rPr lang="en-US" sz="2060" b="1" spc="20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Centralización</a:t>
            </a:r>
            <a:r>
              <a:rPr lang="en-US" sz="2060" b="1" spc="20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: 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Crear la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primera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base de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datos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(CRM) de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clientes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prospectos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la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empresa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16277" y="8705587"/>
            <a:ext cx="7089375" cy="105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3"/>
              </a:lnSpc>
              <a:spcBef>
                <a:spcPct val="0"/>
              </a:spcBef>
            </a:pPr>
            <a:r>
              <a:rPr lang="en-US" sz="2060" b="1" spc="201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Crecimiento</a:t>
            </a:r>
            <a:r>
              <a:rPr lang="en-US" sz="2060" b="1" spc="201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: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Abrir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un nuevo canal de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captación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clientes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(B2B) que no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dependa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z="2060" spc="201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referencias</a:t>
            </a:r>
            <a:r>
              <a:rPr lang="en-US" sz="2060" spc="201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662994" y="337474"/>
            <a:ext cx="4136482" cy="7192513"/>
            <a:chOff x="0" y="0"/>
            <a:chExt cx="1089444" cy="189432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89444" cy="1894324"/>
            </a:xfrm>
            <a:custGeom>
              <a:avLst/>
              <a:gdLst/>
              <a:ahLst/>
              <a:cxnLst/>
              <a:rect l="l" t="t" r="r" b="b"/>
              <a:pathLst>
                <a:path w="1089444" h="1894324">
                  <a:moveTo>
                    <a:pt x="0" y="0"/>
                  </a:moveTo>
                  <a:lnTo>
                    <a:pt x="1089444" y="0"/>
                  </a:lnTo>
                  <a:lnTo>
                    <a:pt x="1089444" y="1894324"/>
                  </a:lnTo>
                  <a:lnTo>
                    <a:pt x="0" y="1894324"/>
                  </a:lnTo>
                  <a:close/>
                </a:path>
              </a:pathLst>
            </a:custGeom>
            <a:solidFill>
              <a:srgbClr val="BFBBB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089444" cy="1913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0971462" y="2271222"/>
            <a:ext cx="4759772" cy="6356958"/>
          </a:xfrm>
          <a:custGeom>
            <a:avLst/>
            <a:gdLst/>
            <a:ahLst/>
            <a:cxnLst/>
            <a:rect l="l" t="t" r="r" b="b"/>
            <a:pathLst>
              <a:path w="4759772" h="6356958">
                <a:moveTo>
                  <a:pt x="0" y="0"/>
                </a:moveTo>
                <a:lnTo>
                  <a:pt x="4759773" y="0"/>
                </a:lnTo>
                <a:lnTo>
                  <a:pt x="475977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62" b="-1657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1814" y="1272849"/>
            <a:ext cx="6401325" cy="1418618"/>
            <a:chOff x="0" y="0"/>
            <a:chExt cx="2135145" cy="4731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35145" cy="473176"/>
            </a:xfrm>
            <a:custGeom>
              <a:avLst/>
              <a:gdLst/>
              <a:ahLst/>
              <a:cxnLst/>
              <a:rect l="l" t="t" r="r" b="b"/>
              <a:pathLst>
                <a:path w="2135145" h="473176">
                  <a:moveTo>
                    <a:pt x="0" y="0"/>
                  </a:moveTo>
                  <a:lnTo>
                    <a:pt x="2135145" y="0"/>
                  </a:lnTo>
                  <a:lnTo>
                    <a:pt x="2135145" y="473176"/>
                  </a:lnTo>
                  <a:lnTo>
                    <a:pt x="0" y="473176"/>
                  </a:ln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4775"/>
              <a:ext cx="2135145" cy="57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6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61814" y="3533586"/>
            <a:ext cx="15897486" cy="5766632"/>
            <a:chOff x="0" y="0"/>
            <a:chExt cx="4041587" cy="14660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41587" cy="1466040"/>
            </a:xfrm>
            <a:custGeom>
              <a:avLst/>
              <a:gdLst/>
              <a:ahLst/>
              <a:cxnLst/>
              <a:rect l="l" t="t" r="r" b="b"/>
              <a:pathLst>
                <a:path w="4041587" h="1466040">
                  <a:moveTo>
                    <a:pt x="1948" y="0"/>
                  </a:moveTo>
                  <a:lnTo>
                    <a:pt x="4039639" y="0"/>
                  </a:lnTo>
                  <a:cubicBezTo>
                    <a:pt x="4040715" y="0"/>
                    <a:pt x="4041587" y="872"/>
                    <a:pt x="4041587" y="1948"/>
                  </a:cubicBezTo>
                  <a:lnTo>
                    <a:pt x="4041587" y="1464092"/>
                  </a:lnTo>
                  <a:cubicBezTo>
                    <a:pt x="4041587" y="1465168"/>
                    <a:pt x="4040715" y="1466040"/>
                    <a:pt x="4039639" y="1466040"/>
                  </a:cubicBezTo>
                  <a:lnTo>
                    <a:pt x="1948" y="1466040"/>
                  </a:lnTo>
                  <a:cubicBezTo>
                    <a:pt x="1431" y="1466040"/>
                    <a:pt x="936" y="1465835"/>
                    <a:pt x="571" y="1465469"/>
                  </a:cubicBezTo>
                  <a:cubicBezTo>
                    <a:pt x="205" y="1465104"/>
                    <a:pt x="0" y="1464609"/>
                    <a:pt x="0" y="1464092"/>
                  </a:cubicBezTo>
                  <a:lnTo>
                    <a:pt x="0" y="1948"/>
                  </a:lnTo>
                  <a:cubicBezTo>
                    <a:pt x="0" y="872"/>
                    <a:pt x="872" y="0"/>
                    <a:pt x="194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4041587" cy="1485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97957" y="4655316"/>
            <a:ext cx="15202675" cy="363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59"/>
              </a:lnSpc>
              <a:spcBef>
                <a:spcPct val="0"/>
              </a:spcBef>
            </a:pP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Desarrollar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implementar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sitio web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funcional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para "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Ejecutores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en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Limpieza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Industrial ELISA", que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digitalice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solicitud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cotizaciones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centralice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su consulta en un panel de administración para </a:t>
            </a:r>
            <a:r>
              <a:rPr lang="en-US" sz="3666" b="1" spc="35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mejorar</a:t>
            </a:r>
            <a:r>
              <a:rPr lang="en-US" sz="3666" b="1" spc="35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 gestión comercial.</a:t>
            </a:r>
          </a:p>
          <a:p>
            <a:pPr marL="0" lvl="0" indent="0" algn="l">
              <a:lnSpc>
                <a:spcPts val="3541"/>
              </a:lnSpc>
              <a:spcBef>
                <a:spcPct val="0"/>
              </a:spcBef>
            </a:pPr>
            <a:endParaRPr lang="en-US" sz="3666" b="1" spc="35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346685" y="1619947"/>
            <a:ext cx="6416453" cy="724423"/>
            <a:chOff x="0" y="0"/>
            <a:chExt cx="1478711" cy="1669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78711" cy="166948"/>
            </a:xfrm>
            <a:custGeom>
              <a:avLst/>
              <a:gdLst/>
              <a:ahLst/>
              <a:cxnLst/>
              <a:rect l="l" t="t" r="r" b="b"/>
              <a:pathLst>
                <a:path w="1478711" h="166948">
                  <a:moveTo>
                    <a:pt x="4826" y="0"/>
                  </a:moveTo>
                  <a:lnTo>
                    <a:pt x="1473885" y="0"/>
                  </a:lnTo>
                  <a:cubicBezTo>
                    <a:pt x="1476550" y="0"/>
                    <a:pt x="1478711" y="2161"/>
                    <a:pt x="1478711" y="4826"/>
                  </a:cubicBezTo>
                  <a:lnTo>
                    <a:pt x="1478711" y="162121"/>
                  </a:lnTo>
                  <a:cubicBezTo>
                    <a:pt x="1478711" y="164787"/>
                    <a:pt x="1476550" y="166948"/>
                    <a:pt x="1473885" y="166948"/>
                  </a:cubicBezTo>
                  <a:lnTo>
                    <a:pt x="4826" y="166948"/>
                  </a:lnTo>
                  <a:cubicBezTo>
                    <a:pt x="2161" y="166948"/>
                    <a:pt x="0" y="164787"/>
                    <a:pt x="0" y="162121"/>
                  </a:cubicBezTo>
                  <a:lnTo>
                    <a:pt x="0" y="4826"/>
                  </a:lnTo>
                  <a:cubicBezTo>
                    <a:pt x="0" y="2161"/>
                    <a:pt x="2161" y="0"/>
                    <a:pt x="4826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478711" cy="185998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4466" y="1722966"/>
            <a:ext cx="7956020" cy="53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59"/>
              </a:lnSpc>
              <a:spcBef>
                <a:spcPct val="0"/>
              </a:spcBef>
            </a:pPr>
            <a:r>
              <a:rPr lang="en-US" sz="3159" b="1" spc="309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 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62" b="-1657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1814" y="3805892"/>
            <a:ext cx="15367162" cy="4526002"/>
            <a:chOff x="0" y="0"/>
            <a:chExt cx="3283535" cy="96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3534" cy="967081"/>
            </a:xfrm>
            <a:custGeom>
              <a:avLst/>
              <a:gdLst/>
              <a:ahLst/>
              <a:cxnLst/>
              <a:rect l="l" t="t" r="r" b="b"/>
              <a:pathLst>
                <a:path w="3283534" h="967081">
                  <a:moveTo>
                    <a:pt x="2015" y="0"/>
                  </a:moveTo>
                  <a:lnTo>
                    <a:pt x="3281519" y="0"/>
                  </a:lnTo>
                  <a:cubicBezTo>
                    <a:pt x="3282054" y="0"/>
                    <a:pt x="3282566" y="212"/>
                    <a:pt x="3282944" y="590"/>
                  </a:cubicBezTo>
                  <a:cubicBezTo>
                    <a:pt x="3283322" y="968"/>
                    <a:pt x="3283534" y="1481"/>
                    <a:pt x="3283534" y="2015"/>
                  </a:cubicBezTo>
                  <a:lnTo>
                    <a:pt x="3283534" y="965065"/>
                  </a:lnTo>
                  <a:cubicBezTo>
                    <a:pt x="3283534" y="965600"/>
                    <a:pt x="3283322" y="966112"/>
                    <a:pt x="3282944" y="966490"/>
                  </a:cubicBezTo>
                  <a:cubicBezTo>
                    <a:pt x="3282566" y="966868"/>
                    <a:pt x="3282054" y="967081"/>
                    <a:pt x="3281519" y="967081"/>
                  </a:cubicBezTo>
                  <a:lnTo>
                    <a:pt x="2015" y="967081"/>
                  </a:lnTo>
                  <a:cubicBezTo>
                    <a:pt x="1481" y="967081"/>
                    <a:pt x="968" y="966868"/>
                    <a:pt x="590" y="966490"/>
                  </a:cubicBezTo>
                  <a:cubicBezTo>
                    <a:pt x="212" y="966112"/>
                    <a:pt x="0" y="965600"/>
                    <a:pt x="0" y="965065"/>
                  </a:cubicBezTo>
                  <a:lnTo>
                    <a:pt x="0" y="2015"/>
                  </a:lnTo>
                  <a:cubicBezTo>
                    <a:pt x="0" y="1481"/>
                    <a:pt x="212" y="968"/>
                    <a:pt x="590" y="590"/>
                  </a:cubicBezTo>
                  <a:cubicBezTo>
                    <a:pt x="968" y="212"/>
                    <a:pt x="1481" y="0"/>
                    <a:pt x="20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283535" cy="986131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3765" y="3805892"/>
            <a:ext cx="10601566" cy="837808"/>
            <a:chOff x="0" y="0"/>
            <a:chExt cx="2443196" cy="193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3196" cy="193078"/>
            </a:xfrm>
            <a:custGeom>
              <a:avLst/>
              <a:gdLst/>
              <a:ahLst/>
              <a:cxnLst/>
              <a:rect l="l" t="t" r="r" b="b"/>
              <a:pathLst>
                <a:path w="2443196" h="193078">
                  <a:moveTo>
                    <a:pt x="2921" y="0"/>
                  </a:moveTo>
                  <a:lnTo>
                    <a:pt x="2440275" y="0"/>
                  </a:lnTo>
                  <a:cubicBezTo>
                    <a:pt x="2441050" y="0"/>
                    <a:pt x="2441793" y="308"/>
                    <a:pt x="2442341" y="856"/>
                  </a:cubicBezTo>
                  <a:cubicBezTo>
                    <a:pt x="2442888" y="1403"/>
                    <a:pt x="2443196" y="2146"/>
                    <a:pt x="2443196" y="2921"/>
                  </a:cubicBezTo>
                  <a:lnTo>
                    <a:pt x="2443196" y="190157"/>
                  </a:lnTo>
                  <a:cubicBezTo>
                    <a:pt x="2443196" y="191770"/>
                    <a:pt x="2441888" y="193078"/>
                    <a:pt x="2440275" y="193078"/>
                  </a:cubicBezTo>
                  <a:lnTo>
                    <a:pt x="2921" y="193078"/>
                  </a:lnTo>
                  <a:cubicBezTo>
                    <a:pt x="2146" y="193078"/>
                    <a:pt x="1403" y="192770"/>
                    <a:pt x="856" y="192223"/>
                  </a:cubicBezTo>
                  <a:cubicBezTo>
                    <a:pt x="308" y="191675"/>
                    <a:pt x="0" y="190932"/>
                    <a:pt x="0" y="190157"/>
                  </a:cubicBezTo>
                  <a:lnTo>
                    <a:pt x="0" y="2921"/>
                  </a:lnTo>
                  <a:cubicBezTo>
                    <a:pt x="0" y="2146"/>
                    <a:pt x="308" y="1403"/>
                    <a:pt x="856" y="856"/>
                  </a:cubicBezTo>
                  <a:cubicBezTo>
                    <a:pt x="1403" y="308"/>
                    <a:pt x="2146" y="0"/>
                    <a:pt x="2921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43196" cy="212128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63765" y="5082240"/>
            <a:ext cx="11301199" cy="125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7"/>
              </a:lnSpc>
              <a:spcBef>
                <a:spcPct val="0"/>
              </a:spcBef>
            </a:pPr>
            <a:r>
              <a:rPr lang="en-US" sz="2454" spc="24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Desarrollar un sitio web funcional que digitalice la solicitud de cotizaciones y centralice su consulta en un panel de administración.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1493" y="3873502"/>
            <a:ext cx="9466108" cy="53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6"/>
              </a:lnSpc>
              <a:spcBef>
                <a:spcPct val="0"/>
              </a:spcBef>
            </a:pPr>
            <a:r>
              <a:rPr lang="en-US" sz="3164" b="1" spc="31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 GENERAL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46685" y="2972490"/>
            <a:ext cx="15912615" cy="6409699"/>
            <a:chOff x="0" y="0"/>
            <a:chExt cx="3400083" cy="13695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00083" cy="1369574"/>
            </a:xfrm>
            <a:custGeom>
              <a:avLst/>
              <a:gdLst/>
              <a:ahLst/>
              <a:cxnLst/>
              <a:rect l="l" t="t" r="r" b="b"/>
              <a:pathLst>
                <a:path w="3400083" h="1369574">
                  <a:moveTo>
                    <a:pt x="1946" y="0"/>
                  </a:moveTo>
                  <a:lnTo>
                    <a:pt x="3398137" y="0"/>
                  </a:lnTo>
                  <a:cubicBezTo>
                    <a:pt x="3399212" y="0"/>
                    <a:pt x="3400083" y="871"/>
                    <a:pt x="3400083" y="1946"/>
                  </a:cubicBezTo>
                  <a:lnTo>
                    <a:pt x="3400083" y="1367628"/>
                  </a:lnTo>
                  <a:cubicBezTo>
                    <a:pt x="3400083" y="1368703"/>
                    <a:pt x="3399212" y="1369574"/>
                    <a:pt x="3398137" y="1369574"/>
                  </a:cubicBezTo>
                  <a:lnTo>
                    <a:pt x="1946" y="1369574"/>
                  </a:lnTo>
                  <a:cubicBezTo>
                    <a:pt x="871" y="1369574"/>
                    <a:pt x="0" y="1368703"/>
                    <a:pt x="0" y="1367628"/>
                  </a:cubicBezTo>
                  <a:lnTo>
                    <a:pt x="0" y="1946"/>
                  </a:lnTo>
                  <a:cubicBezTo>
                    <a:pt x="0" y="871"/>
                    <a:pt x="871" y="0"/>
                    <a:pt x="19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400083" cy="1388624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67941" y="3173725"/>
            <a:ext cx="15372642" cy="688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0747" lvl="1" indent="-330374" algn="just">
              <a:lnSpc>
                <a:spcPts val="4223"/>
              </a:lnSpc>
              <a:buFont typeface="Arial"/>
              <a:buChar char="•"/>
            </a:pP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Diseñar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implementar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catálogo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digital que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exhiba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los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servicios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limpieza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manera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clara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profesional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.</a:t>
            </a:r>
          </a:p>
          <a:p>
            <a:pPr algn="just">
              <a:lnSpc>
                <a:spcPts val="4223"/>
              </a:lnSpc>
            </a:pPr>
            <a:endParaRPr lang="en-US" sz="3060" b="1" spc="29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660747" lvl="1" indent="-330374" algn="just">
              <a:lnSpc>
                <a:spcPts val="4223"/>
              </a:lnSpc>
              <a:buFont typeface="Arial"/>
              <a:buChar char="•"/>
            </a:pP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Desarrollar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módulo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interactivo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solicitud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cotizaciones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que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guarde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información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del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formulario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oficial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directamente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en la base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datos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.</a:t>
            </a:r>
          </a:p>
          <a:p>
            <a:pPr algn="just">
              <a:lnSpc>
                <a:spcPts val="4223"/>
              </a:lnSpc>
            </a:pPr>
            <a:endParaRPr lang="en-US" sz="3060" b="1" spc="29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660747" lvl="1" indent="-330374" algn="just">
              <a:lnSpc>
                <a:spcPts val="4223"/>
              </a:lnSpc>
              <a:buFont typeface="Arial"/>
              <a:buChar char="•"/>
            </a:pP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Construir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panel de administración privado y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seguro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con un sistema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autenticación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para los roles de </a:t>
            </a:r>
            <a:r>
              <a:rPr lang="en-US" sz="3060" b="1" spc="299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Gerente</a:t>
            </a:r>
            <a:r>
              <a:rPr lang="en-US" sz="3060" b="1" spc="299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Supervisor.</a:t>
            </a:r>
          </a:p>
          <a:p>
            <a:pPr algn="just">
              <a:lnSpc>
                <a:spcPts val="4223"/>
              </a:lnSpc>
            </a:pPr>
            <a:endParaRPr lang="en-US" sz="3060" b="1" spc="29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algn="just">
              <a:lnSpc>
                <a:spcPts val="4223"/>
              </a:lnSpc>
              <a:spcBef>
                <a:spcPct val="0"/>
              </a:spcBef>
            </a:pPr>
            <a:endParaRPr lang="en-US" sz="3060" b="1" spc="29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0" lvl="0" indent="0" algn="ctr">
              <a:lnSpc>
                <a:spcPts val="4223"/>
              </a:lnSpc>
              <a:spcBef>
                <a:spcPct val="0"/>
              </a:spcBef>
            </a:pPr>
            <a:endParaRPr lang="en-US" sz="3060" b="1" spc="299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346685" y="1133214"/>
            <a:ext cx="6401325" cy="1418618"/>
            <a:chOff x="0" y="0"/>
            <a:chExt cx="2135145" cy="4731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5145" cy="473176"/>
            </a:xfrm>
            <a:custGeom>
              <a:avLst/>
              <a:gdLst/>
              <a:ahLst/>
              <a:cxnLst/>
              <a:rect l="l" t="t" r="r" b="b"/>
              <a:pathLst>
                <a:path w="2135145" h="473176">
                  <a:moveTo>
                    <a:pt x="0" y="0"/>
                  </a:moveTo>
                  <a:lnTo>
                    <a:pt x="2135145" y="0"/>
                  </a:lnTo>
                  <a:lnTo>
                    <a:pt x="2135145" y="473176"/>
                  </a:lnTo>
                  <a:lnTo>
                    <a:pt x="0" y="473176"/>
                  </a:ln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135145" cy="57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6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46685" y="1423618"/>
            <a:ext cx="6416453" cy="724423"/>
            <a:chOff x="0" y="0"/>
            <a:chExt cx="1478711" cy="1669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8711" cy="166948"/>
            </a:xfrm>
            <a:custGeom>
              <a:avLst/>
              <a:gdLst/>
              <a:ahLst/>
              <a:cxnLst/>
              <a:rect l="l" t="t" r="r" b="b"/>
              <a:pathLst>
                <a:path w="1478711" h="166948">
                  <a:moveTo>
                    <a:pt x="4826" y="0"/>
                  </a:moveTo>
                  <a:lnTo>
                    <a:pt x="1473885" y="0"/>
                  </a:lnTo>
                  <a:cubicBezTo>
                    <a:pt x="1476550" y="0"/>
                    <a:pt x="1478711" y="2161"/>
                    <a:pt x="1478711" y="4826"/>
                  </a:cubicBezTo>
                  <a:lnTo>
                    <a:pt x="1478711" y="162121"/>
                  </a:lnTo>
                  <a:cubicBezTo>
                    <a:pt x="1478711" y="164787"/>
                    <a:pt x="1476550" y="166948"/>
                    <a:pt x="1473885" y="166948"/>
                  </a:cubicBezTo>
                  <a:lnTo>
                    <a:pt x="4826" y="166948"/>
                  </a:lnTo>
                  <a:cubicBezTo>
                    <a:pt x="2161" y="166948"/>
                    <a:pt x="0" y="164787"/>
                    <a:pt x="0" y="162121"/>
                  </a:cubicBezTo>
                  <a:lnTo>
                    <a:pt x="0" y="4826"/>
                  </a:lnTo>
                  <a:cubicBezTo>
                    <a:pt x="0" y="2161"/>
                    <a:pt x="2161" y="0"/>
                    <a:pt x="4826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478711" cy="185998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-178142" y="1544982"/>
            <a:ext cx="9466108" cy="53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6"/>
              </a:lnSpc>
              <a:spcBef>
                <a:spcPct val="0"/>
              </a:spcBef>
            </a:pPr>
            <a:r>
              <a:rPr lang="en-US" sz="3164" b="1" spc="31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OBJETIVOS ESPECIFICOS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62" b="-1657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1361814" y="3805892"/>
            <a:ext cx="15367162" cy="4526002"/>
            <a:chOff x="0" y="0"/>
            <a:chExt cx="3283535" cy="967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3534" cy="967081"/>
            </a:xfrm>
            <a:custGeom>
              <a:avLst/>
              <a:gdLst/>
              <a:ahLst/>
              <a:cxnLst/>
              <a:rect l="l" t="t" r="r" b="b"/>
              <a:pathLst>
                <a:path w="3283534" h="967081">
                  <a:moveTo>
                    <a:pt x="2015" y="0"/>
                  </a:moveTo>
                  <a:lnTo>
                    <a:pt x="3281519" y="0"/>
                  </a:lnTo>
                  <a:cubicBezTo>
                    <a:pt x="3282054" y="0"/>
                    <a:pt x="3282566" y="212"/>
                    <a:pt x="3282944" y="590"/>
                  </a:cubicBezTo>
                  <a:cubicBezTo>
                    <a:pt x="3283322" y="968"/>
                    <a:pt x="3283534" y="1481"/>
                    <a:pt x="3283534" y="2015"/>
                  </a:cubicBezTo>
                  <a:lnTo>
                    <a:pt x="3283534" y="965065"/>
                  </a:lnTo>
                  <a:cubicBezTo>
                    <a:pt x="3283534" y="965600"/>
                    <a:pt x="3283322" y="966112"/>
                    <a:pt x="3282944" y="966490"/>
                  </a:cubicBezTo>
                  <a:cubicBezTo>
                    <a:pt x="3282566" y="966868"/>
                    <a:pt x="3282054" y="967081"/>
                    <a:pt x="3281519" y="967081"/>
                  </a:cubicBezTo>
                  <a:lnTo>
                    <a:pt x="2015" y="967081"/>
                  </a:lnTo>
                  <a:cubicBezTo>
                    <a:pt x="1481" y="967081"/>
                    <a:pt x="968" y="966868"/>
                    <a:pt x="590" y="966490"/>
                  </a:cubicBezTo>
                  <a:cubicBezTo>
                    <a:pt x="212" y="966112"/>
                    <a:pt x="0" y="965600"/>
                    <a:pt x="0" y="965065"/>
                  </a:cubicBezTo>
                  <a:lnTo>
                    <a:pt x="0" y="2015"/>
                  </a:lnTo>
                  <a:cubicBezTo>
                    <a:pt x="0" y="1481"/>
                    <a:pt x="212" y="968"/>
                    <a:pt x="590" y="590"/>
                  </a:cubicBezTo>
                  <a:cubicBezTo>
                    <a:pt x="968" y="212"/>
                    <a:pt x="1481" y="0"/>
                    <a:pt x="20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283535" cy="986131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63765" y="3805892"/>
            <a:ext cx="10601566" cy="837808"/>
            <a:chOff x="0" y="0"/>
            <a:chExt cx="2443196" cy="193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3196" cy="193078"/>
            </a:xfrm>
            <a:custGeom>
              <a:avLst/>
              <a:gdLst/>
              <a:ahLst/>
              <a:cxnLst/>
              <a:rect l="l" t="t" r="r" b="b"/>
              <a:pathLst>
                <a:path w="2443196" h="193078">
                  <a:moveTo>
                    <a:pt x="2921" y="0"/>
                  </a:moveTo>
                  <a:lnTo>
                    <a:pt x="2440275" y="0"/>
                  </a:lnTo>
                  <a:cubicBezTo>
                    <a:pt x="2441050" y="0"/>
                    <a:pt x="2441793" y="308"/>
                    <a:pt x="2442341" y="856"/>
                  </a:cubicBezTo>
                  <a:cubicBezTo>
                    <a:pt x="2442888" y="1403"/>
                    <a:pt x="2443196" y="2146"/>
                    <a:pt x="2443196" y="2921"/>
                  </a:cubicBezTo>
                  <a:lnTo>
                    <a:pt x="2443196" y="190157"/>
                  </a:lnTo>
                  <a:cubicBezTo>
                    <a:pt x="2443196" y="191770"/>
                    <a:pt x="2441888" y="193078"/>
                    <a:pt x="2440275" y="193078"/>
                  </a:cubicBezTo>
                  <a:lnTo>
                    <a:pt x="2921" y="193078"/>
                  </a:lnTo>
                  <a:cubicBezTo>
                    <a:pt x="2146" y="193078"/>
                    <a:pt x="1403" y="192770"/>
                    <a:pt x="856" y="192223"/>
                  </a:cubicBezTo>
                  <a:cubicBezTo>
                    <a:pt x="308" y="191675"/>
                    <a:pt x="0" y="190932"/>
                    <a:pt x="0" y="190157"/>
                  </a:cubicBezTo>
                  <a:lnTo>
                    <a:pt x="0" y="2921"/>
                  </a:lnTo>
                  <a:cubicBezTo>
                    <a:pt x="0" y="2146"/>
                    <a:pt x="308" y="1403"/>
                    <a:pt x="856" y="856"/>
                  </a:cubicBezTo>
                  <a:cubicBezTo>
                    <a:pt x="1403" y="308"/>
                    <a:pt x="2146" y="0"/>
                    <a:pt x="2921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443196" cy="212128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63765" y="5082240"/>
            <a:ext cx="11301199" cy="125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87"/>
              </a:lnSpc>
              <a:spcBef>
                <a:spcPct val="0"/>
              </a:spcBef>
            </a:pPr>
            <a:r>
              <a:rPr lang="en-US" sz="2454" spc="24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Desarrollar un sitio web funcional que digitalice la solicitud de cotizaciones y centralice su consulta en un panel de administración.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31493" y="3873502"/>
            <a:ext cx="9466108" cy="53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6"/>
              </a:lnSpc>
              <a:spcBef>
                <a:spcPct val="0"/>
              </a:spcBef>
            </a:pPr>
            <a:r>
              <a:rPr lang="en-US" sz="3164" b="1" spc="31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 GENERAL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46685" y="2972490"/>
            <a:ext cx="15912615" cy="6409699"/>
            <a:chOff x="0" y="0"/>
            <a:chExt cx="3400083" cy="13695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400083" cy="1369574"/>
            </a:xfrm>
            <a:custGeom>
              <a:avLst/>
              <a:gdLst/>
              <a:ahLst/>
              <a:cxnLst/>
              <a:rect l="l" t="t" r="r" b="b"/>
              <a:pathLst>
                <a:path w="3400083" h="1369574">
                  <a:moveTo>
                    <a:pt x="1946" y="0"/>
                  </a:moveTo>
                  <a:lnTo>
                    <a:pt x="3398137" y="0"/>
                  </a:lnTo>
                  <a:cubicBezTo>
                    <a:pt x="3399212" y="0"/>
                    <a:pt x="3400083" y="871"/>
                    <a:pt x="3400083" y="1946"/>
                  </a:cubicBezTo>
                  <a:lnTo>
                    <a:pt x="3400083" y="1367628"/>
                  </a:lnTo>
                  <a:cubicBezTo>
                    <a:pt x="3400083" y="1368703"/>
                    <a:pt x="3399212" y="1369574"/>
                    <a:pt x="3398137" y="1369574"/>
                  </a:cubicBezTo>
                  <a:lnTo>
                    <a:pt x="1946" y="1369574"/>
                  </a:lnTo>
                  <a:cubicBezTo>
                    <a:pt x="871" y="1369574"/>
                    <a:pt x="0" y="1368703"/>
                    <a:pt x="0" y="1367628"/>
                  </a:cubicBezTo>
                  <a:lnTo>
                    <a:pt x="0" y="1946"/>
                  </a:lnTo>
                  <a:cubicBezTo>
                    <a:pt x="0" y="871"/>
                    <a:pt x="871" y="0"/>
                    <a:pt x="194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3400083" cy="1388624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18547" y="3490086"/>
            <a:ext cx="15453695" cy="5326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981" lvl="1" indent="-303490" algn="just">
              <a:lnSpc>
                <a:spcPts val="3879"/>
              </a:lnSpc>
              <a:buFont typeface="Arial"/>
              <a:buChar char="•"/>
            </a:pP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Desarrollar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dentro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del panel, un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módulo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consulta de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cotizaciones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donde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los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administradores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puedan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ver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listado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todas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las solicitudes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recibidas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marcarlas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como "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Contactado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" o "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Archivado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" y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ver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los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detalles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del cliente.</a:t>
            </a:r>
          </a:p>
          <a:p>
            <a:pPr algn="just">
              <a:lnSpc>
                <a:spcPts val="3879"/>
              </a:lnSpc>
            </a:pPr>
            <a:endParaRPr lang="en-US" sz="2811" b="1" spc="275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606981" lvl="1" indent="-303490" algn="just">
              <a:lnSpc>
                <a:spcPts val="3879"/>
              </a:lnSpc>
              <a:buFont typeface="Arial"/>
              <a:buChar char="•"/>
            </a:pP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Integrar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un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asistente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virtual (chatbot)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básico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para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dar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bienvenida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responder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preguntas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frecuentes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dirigir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a los usuarios al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formulario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cotización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.</a:t>
            </a:r>
          </a:p>
          <a:p>
            <a:pPr algn="just">
              <a:lnSpc>
                <a:spcPts val="3879"/>
              </a:lnSpc>
            </a:pPr>
            <a:endParaRPr lang="en-US" sz="2811" b="1" spc="275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606981" lvl="1" indent="-303490" algn="just">
              <a:lnSpc>
                <a:spcPts val="3879"/>
              </a:lnSpc>
              <a:spcBef>
                <a:spcPct val="0"/>
              </a:spcBef>
              <a:buFont typeface="Arial"/>
              <a:buChar char="•"/>
            </a:pP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Asegurar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que el sitio web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cuente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con un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diseño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responsivo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para su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correcta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visualización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en dispositivos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móviles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</a:t>
            </a:r>
            <a:r>
              <a:rPr lang="en-US" sz="2811" b="1" spc="275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computadoras</a:t>
            </a:r>
            <a:r>
              <a:rPr lang="en-US" sz="2811" b="1" spc="275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46685" y="1133214"/>
            <a:ext cx="6401325" cy="1418618"/>
            <a:chOff x="0" y="0"/>
            <a:chExt cx="2135145" cy="4731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5145" cy="473176"/>
            </a:xfrm>
            <a:custGeom>
              <a:avLst/>
              <a:gdLst/>
              <a:ahLst/>
              <a:cxnLst/>
              <a:rect l="l" t="t" r="r" b="b"/>
              <a:pathLst>
                <a:path w="2135145" h="473176">
                  <a:moveTo>
                    <a:pt x="0" y="0"/>
                  </a:moveTo>
                  <a:lnTo>
                    <a:pt x="2135145" y="0"/>
                  </a:lnTo>
                  <a:lnTo>
                    <a:pt x="2135145" y="473176"/>
                  </a:lnTo>
                  <a:lnTo>
                    <a:pt x="0" y="473176"/>
                  </a:ln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2135145" cy="577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60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46685" y="1423618"/>
            <a:ext cx="6416453" cy="724423"/>
            <a:chOff x="0" y="0"/>
            <a:chExt cx="1478711" cy="16694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78711" cy="166948"/>
            </a:xfrm>
            <a:custGeom>
              <a:avLst/>
              <a:gdLst/>
              <a:ahLst/>
              <a:cxnLst/>
              <a:rect l="l" t="t" r="r" b="b"/>
              <a:pathLst>
                <a:path w="1478711" h="166948">
                  <a:moveTo>
                    <a:pt x="4826" y="0"/>
                  </a:moveTo>
                  <a:lnTo>
                    <a:pt x="1473885" y="0"/>
                  </a:lnTo>
                  <a:cubicBezTo>
                    <a:pt x="1476550" y="0"/>
                    <a:pt x="1478711" y="2161"/>
                    <a:pt x="1478711" y="4826"/>
                  </a:cubicBezTo>
                  <a:lnTo>
                    <a:pt x="1478711" y="162121"/>
                  </a:lnTo>
                  <a:cubicBezTo>
                    <a:pt x="1478711" y="164787"/>
                    <a:pt x="1476550" y="166948"/>
                    <a:pt x="1473885" y="166948"/>
                  </a:cubicBezTo>
                  <a:lnTo>
                    <a:pt x="4826" y="166948"/>
                  </a:lnTo>
                  <a:cubicBezTo>
                    <a:pt x="2161" y="166948"/>
                    <a:pt x="0" y="164787"/>
                    <a:pt x="0" y="162121"/>
                  </a:cubicBezTo>
                  <a:lnTo>
                    <a:pt x="0" y="4826"/>
                  </a:lnTo>
                  <a:cubicBezTo>
                    <a:pt x="0" y="2161"/>
                    <a:pt x="2161" y="0"/>
                    <a:pt x="4826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478711" cy="185998"/>
            </a:xfrm>
            <a:prstGeom prst="rect">
              <a:avLst/>
            </a:prstGeom>
          </p:spPr>
          <p:txBody>
            <a:bodyPr lIns="60442" tIns="60442" rIns="60442" bIns="60442" rtlCol="0" anchor="ctr"/>
            <a:lstStyle/>
            <a:p>
              <a:pPr marL="0" lvl="0" indent="0" algn="ctr">
                <a:lnSpc>
                  <a:spcPts val="28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-178142" y="1544982"/>
            <a:ext cx="9466108" cy="53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66"/>
              </a:lnSpc>
              <a:spcBef>
                <a:spcPct val="0"/>
              </a:spcBef>
            </a:pPr>
            <a:r>
              <a:rPr lang="en-US" sz="3164" b="1" spc="31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OBJETIVOS ESPECIFICOS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23" y="639033"/>
            <a:ext cx="11375937" cy="98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5813" spc="569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Propuesta de Solución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0" y="-45949"/>
            <a:ext cx="4813528" cy="1670445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0" y="0"/>
                </a:moveTo>
                <a:lnTo>
                  <a:pt x="7262322" y="0"/>
                </a:lnTo>
                <a:lnTo>
                  <a:pt x="7262322" y="2086267"/>
                </a:lnTo>
                <a:lnTo>
                  <a:pt x="0" y="208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12550142" y="8419027"/>
            <a:ext cx="5737858" cy="1867974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7262322" y="2086267"/>
                </a:moveTo>
                <a:lnTo>
                  <a:pt x="0" y="2086267"/>
                </a:lnTo>
                <a:lnTo>
                  <a:pt x="0" y="0"/>
                </a:lnTo>
                <a:lnTo>
                  <a:pt x="7262322" y="0"/>
                </a:lnTo>
                <a:lnTo>
                  <a:pt x="7262322" y="2086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602347" y="2309480"/>
            <a:ext cx="10826013" cy="7696311"/>
            <a:chOff x="0" y="0"/>
            <a:chExt cx="14434684" cy="10261748"/>
          </a:xfrm>
        </p:grpSpPr>
        <p:sp>
          <p:nvSpPr>
            <p:cNvPr id="6" name="Freeform 6"/>
            <p:cNvSpPr/>
            <p:nvPr/>
          </p:nvSpPr>
          <p:spPr>
            <a:xfrm rot="-5400000">
              <a:off x="2086468" y="-2086468"/>
              <a:ext cx="10261748" cy="14434684"/>
            </a:xfrm>
            <a:custGeom>
              <a:avLst/>
              <a:gdLst/>
              <a:ahLst/>
              <a:cxnLst/>
              <a:rect l="l" t="t" r="r" b="b"/>
              <a:pathLst>
                <a:path w="10261748" h="14434684">
                  <a:moveTo>
                    <a:pt x="0" y="0"/>
                  </a:moveTo>
                  <a:lnTo>
                    <a:pt x="10261748" y="0"/>
                  </a:lnTo>
                  <a:lnTo>
                    <a:pt x="10261748" y="14434684"/>
                  </a:lnTo>
                  <a:lnTo>
                    <a:pt x="0" y="1443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73360" y="603016"/>
              <a:ext cx="1206032" cy="1206032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899"/>
                  </a:lnSpc>
                </a:pPr>
                <a:r>
                  <a:rPr lang="en-US" sz="2999">
                    <a:solidFill>
                      <a:srgbClr val="FFFFFF"/>
                    </a:solidFill>
                    <a:latin typeface="TT Drugs"/>
                    <a:ea typeface="TT Drugs"/>
                    <a:cs typeface="TT Drugs"/>
                    <a:sym typeface="TT Drugs"/>
                  </a:rPr>
                  <a:t>01</a:t>
                </a:r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97276" y="2072807"/>
              <a:ext cx="8392356" cy="6810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5914" lvl="1" indent="-292957" algn="l">
                <a:lnSpc>
                  <a:spcPts val="3745"/>
                </a:lnSpc>
                <a:buFont typeface="Arial"/>
                <a:buChar char="•"/>
              </a:pP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Un sitio web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corporativo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,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responsivo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y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profesional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.</a:t>
              </a:r>
            </a:p>
            <a:p>
              <a:pPr algn="l">
                <a:lnSpc>
                  <a:spcPts val="3745"/>
                </a:lnSpc>
              </a:pPr>
              <a:endPara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endParaRPr>
            </a:p>
            <a:p>
              <a:pPr marL="585914" lvl="1" indent="-292957" algn="l">
                <a:lnSpc>
                  <a:spcPts val="3745"/>
                </a:lnSpc>
                <a:buFont typeface="Arial"/>
                <a:buChar char="•"/>
              </a:pP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Un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catálogo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que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detalla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los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servicios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de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limpieza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.</a:t>
              </a:r>
            </a:p>
            <a:p>
              <a:pPr algn="l">
                <a:lnSpc>
                  <a:spcPts val="3745"/>
                </a:lnSpc>
              </a:pPr>
              <a:endPara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endParaRPr>
            </a:p>
            <a:p>
              <a:pPr marL="585914" lvl="1" indent="-292957" algn="l">
                <a:lnSpc>
                  <a:spcPts val="374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Un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formulario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de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cotización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interactivo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que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reemplaza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al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correo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electrónico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y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valida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los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datos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 al </a:t>
              </a:r>
              <a:r>
                <a:rPr lang="en-US" sz="2713" spc="265" dirty="0" err="1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instante</a:t>
              </a:r>
              <a:r>
                <a:rPr lang="en-US" sz="2713" spc="265" dirty="0">
                  <a:solidFill>
                    <a:srgbClr val="231F20"/>
                  </a:solidFill>
                  <a:latin typeface="TT Drugs"/>
                  <a:ea typeface="TT Drugs"/>
                  <a:cs typeface="TT Drugs"/>
                  <a:sym typeface="TT Drugs"/>
                </a:rPr>
                <a:t>.</a:t>
              </a:r>
            </a:p>
            <a:p>
              <a:pPr marL="0" lvl="0" indent="0" algn="l">
                <a:lnSpc>
                  <a:spcPts val="3745"/>
                </a:lnSpc>
                <a:spcBef>
                  <a:spcPct val="0"/>
                </a:spcBef>
              </a:pPr>
              <a:endPara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74582" y="949333"/>
              <a:ext cx="9285519" cy="465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918"/>
                </a:lnSpc>
                <a:spcBef>
                  <a:spcPct val="0"/>
                </a:spcBef>
              </a:pPr>
              <a:r>
                <a:rPr lang="en-US" sz="2114" b="1" spc="207">
                  <a:solidFill>
                    <a:srgbClr val="0071BC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EL PORTAL DEL CLIENTE (PÚBLICO):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23" y="639033"/>
            <a:ext cx="11375937" cy="98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5813" spc="569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Propuesta de Solución</a:t>
            </a:r>
          </a:p>
        </p:txBody>
      </p:sp>
      <p:sp>
        <p:nvSpPr>
          <p:cNvPr id="3" name="Freeform 3"/>
          <p:cNvSpPr/>
          <p:nvPr/>
        </p:nvSpPr>
        <p:spPr>
          <a:xfrm rot="-10800000">
            <a:off x="0" y="-45950"/>
            <a:ext cx="4813528" cy="1578453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0" y="0"/>
                </a:moveTo>
                <a:lnTo>
                  <a:pt x="7262322" y="0"/>
                </a:lnTo>
                <a:lnTo>
                  <a:pt x="7262322" y="2086267"/>
                </a:lnTo>
                <a:lnTo>
                  <a:pt x="0" y="208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10800000" flipH="1" flipV="1">
            <a:off x="12550142" y="8419027"/>
            <a:ext cx="5737858" cy="1867974"/>
          </a:xfrm>
          <a:custGeom>
            <a:avLst/>
            <a:gdLst/>
            <a:ahLst/>
            <a:cxnLst/>
            <a:rect l="l" t="t" r="r" b="b"/>
            <a:pathLst>
              <a:path w="7262322" h="2086267">
                <a:moveTo>
                  <a:pt x="7262322" y="2086267"/>
                </a:moveTo>
                <a:lnTo>
                  <a:pt x="0" y="2086267"/>
                </a:lnTo>
                <a:lnTo>
                  <a:pt x="0" y="0"/>
                </a:lnTo>
                <a:lnTo>
                  <a:pt x="7262322" y="0"/>
                </a:lnTo>
                <a:lnTo>
                  <a:pt x="7262322" y="2086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5400000">
            <a:off x="2167198" y="744629"/>
            <a:ext cx="7696311" cy="10826013"/>
          </a:xfrm>
          <a:custGeom>
            <a:avLst/>
            <a:gdLst/>
            <a:ahLst/>
            <a:cxnLst/>
            <a:rect l="l" t="t" r="r" b="b"/>
            <a:pathLst>
              <a:path w="7696311" h="10826013">
                <a:moveTo>
                  <a:pt x="0" y="0"/>
                </a:moveTo>
                <a:lnTo>
                  <a:pt x="7696311" y="0"/>
                </a:lnTo>
                <a:lnTo>
                  <a:pt x="7696311" y="10826013"/>
                </a:lnTo>
                <a:lnTo>
                  <a:pt x="0" y="108260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425304" y="3852179"/>
            <a:ext cx="6294267" cy="558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914" lvl="1" indent="-292957" algn="l">
              <a:lnSpc>
                <a:spcPts val="3745"/>
              </a:lnSpc>
              <a:buFont typeface="Arial"/>
              <a:buChar char="•"/>
            </a:pP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Un sistema con acceso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seguro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(login) para Gerentes y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Supervisores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</a:t>
            </a:r>
          </a:p>
          <a:p>
            <a:pPr marL="585914" lvl="1" indent="-292957" algn="l">
              <a:lnSpc>
                <a:spcPts val="3745"/>
              </a:lnSpc>
              <a:buFont typeface="Arial"/>
              <a:buChar char="•"/>
            </a:pP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Un "Micro-CRM"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donde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se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listan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todas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las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cotizaciones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recibidas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desde el sitio web.</a:t>
            </a:r>
          </a:p>
          <a:p>
            <a:pPr marL="585914" lvl="1" indent="-292957" algn="l">
              <a:lnSpc>
                <a:spcPts val="3745"/>
              </a:lnSpc>
              <a:buFont typeface="Arial"/>
              <a:buChar char="•"/>
            </a:pP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Permite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a la administración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ver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los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detalles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cada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solicitud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cambiar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su 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estado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ej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. "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Recibida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", "</a:t>
            </a:r>
            <a:r>
              <a:rPr lang="en-US" sz="2713" spc="265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Contactado</a:t>
            </a:r>
            <a:r>
              <a:rPr lang="en-US" sz="2713" spc="265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").</a:t>
            </a:r>
          </a:p>
          <a:p>
            <a:pPr marL="0" lvl="0" indent="0" algn="l">
              <a:lnSpc>
                <a:spcPts val="3745"/>
              </a:lnSpc>
              <a:spcBef>
                <a:spcPct val="0"/>
              </a:spcBef>
            </a:pPr>
            <a:endParaRPr lang="en-US" sz="2713" spc="265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2761742"/>
            <a:ext cx="904524" cy="90452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02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93019" y="2916201"/>
            <a:ext cx="5940073" cy="75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20"/>
              </a:lnSpc>
              <a:spcBef>
                <a:spcPct val="0"/>
              </a:spcBef>
            </a:pPr>
            <a:r>
              <a:rPr lang="en-US" sz="2188" b="1" spc="214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 EL PANEL DE ADMINISTRACIÓN (PRIVADO):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72" y="469099"/>
            <a:ext cx="11239010" cy="2205543"/>
            <a:chOff x="0" y="0"/>
            <a:chExt cx="1357528" cy="266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7528" cy="266401"/>
            </a:xfrm>
            <a:custGeom>
              <a:avLst/>
              <a:gdLst/>
              <a:ahLst/>
              <a:cxnLst/>
              <a:rect l="l" t="t" r="r" b="b"/>
              <a:pathLst>
                <a:path w="1357528" h="266401">
                  <a:moveTo>
                    <a:pt x="203200" y="0"/>
                  </a:moveTo>
                  <a:lnTo>
                    <a:pt x="1357528" y="0"/>
                  </a:lnTo>
                  <a:lnTo>
                    <a:pt x="1154328" y="266401"/>
                  </a:lnTo>
                  <a:lnTo>
                    <a:pt x="0" y="26640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19050"/>
              <a:ext cx="1154328" cy="28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51886" y="1038470"/>
            <a:ext cx="8907799" cy="828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9"/>
              </a:lnSpc>
              <a:spcBef>
                <a:spcPct val="0"/>
              </a:spcBef>
            </a:pPr>
            <a:r>
              <a:rPr lang="en-US" sz="4927" spc="482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 Metodología Aplicada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7891" y="3559444"/>
            <a:ext cx="5507845" cy="849250"/>
            <a:chOff x="0" y="0"/>
            <a:chExt cx="1643089" cy="2533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3089" cy="253346"/>
            </a:xfrm>
            <a:custGeom>
              <a:avLst/>
              <a:gdLst/>
              <a:ahLst/>
              <a:cxnLst/>
              <a:rect l="l" t="t" r="r" b="b"/>
              <a:pathLst>
                <a:path w="1643089" h="253346">
                  <a:moveTo>
                    <a:pt x="1439889" y="0"/>
                  </a:moveTo>
                  <a:lnTo>
                    <a:pt x="0" y="0"/>
                  </a:lnTo>
                  <a:lnTo>
                    <a:pt x="0" y="253346"/>
                  </a:lnTo>
                  <a:lnTo>
                    <a:pt x="1439889" y="253346"/>
                  </a:lnTo>
                  <a:lnTo>
                    <a:pt x="1643089" y="126673"/>
                  </a:lnTo>
                  <a:lnTo>
                    <a:pt x="1439889" y="0"/>
                  </a:lnTo>
                  <a:close/>
                </a:path>
              </a:pathLst>
            </a:custGeom>
            <a:solidFill>
              <a:srgbClr val="14356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28789" cy="281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891" y="6104144"/>
            <a:ext cx="5507845" cy="849250"/>
            <a:chOff x="0" y="0"/>
            <a:chExt cx="1643089" cy="2533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3089" cy="253346"/>
            </a:xfrm>
            <a:custGeom>
              <a:avLst/>
              <a:gdLst/>
              <a:ahLst/>
              <a:cxnLst/>
              <a:rect l="l" t="t" r="r" b="b"/>
              <a:pathLst>
                <a:path w="1643089" h="253346">
                  <a:moveTo>
                    <a:pt x="1439889" y="0"/>
                  </a:moveTo>
                  <a:lnTo>
                    <a:pt x="0" y="0"/>
                  </a:lnTo>
                  <a:lnTo>
                    <a:pt x="0" y="253346"/>
                  </a:lnTo>
                  <a:lnTo>
                    <a:pt x="1439889" y="253346"/>
                  </a:lnTo>
                  <a:lnTo>
                    <a:pt x="1643089" y="126673"/>
                  </a:lnTo>
                  <a:lnTo>
                    <a:pt x="1439889" y="0"/>
                  </a:lnTo>
                  <a:close/>
                </a:path>
              </a:pathLst>
            </a:custGeom>
            <a:solidFill>
              <a:srgbClr val="14356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528789" cy="281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2172" y="4789040"/>
            <a:ext cx="5235199" cy="749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Adaptado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a un proyecto individual.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2172" y="3772203"/>
            <a:ext cx="5497905" cy="385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0"/>
              </a:lnSpc>
              <a:spcBef>
                <a:spcPct val="0"/>
              </a:spcBef>
            </a:pPr>
            <a:r>
              <a:rPr lang="en-US" sz="2297" b="1" spc="39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Marco de Trabajo: SCRUM Ágil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2172" y="7663218"/>
            <a:ext cx="5235199" cy="1585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98"/>
              </a:lnSpc>
              <a:spcBef>
                <a:spcPct val="0"/>
              </a:spcBef>
            </a:pPr>
            <a:r>
              <a:rPr lang="en-US" sz="2317" b="1" spc="22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Se </a:t>
            </a:r>
            <a:r>
              <a:rPr lang="en-US" sz="2317" b="1" spc="22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priorizó</a:t>
            </a:r>
            <a:r>
              <a:rPr lang="en-US" sz="2317" b="1" spc="22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la </a:t>
            </a:r>
            <a:r>
              <a:rPr lang="en-US" sz="2317" b="1" spc="22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entrega</a:t>
            </a:r>
            <a:r>
              <a:rPr lang="en-US" sz="2317" b="1" spc="22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valor central: resolver el problema de la </a:t>
            </a:r>
            <a:r>
              <a:rPr lang="en-US" sz="2317" b="1" spc="22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cotización</a:t>
            </a:r>
            <a:r>
              <a:rPr lang="en-US" sz="2317" b="1" spc="22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manual.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2172" y="6167712"/>
            <a:ext cx="5497905" cy="785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70"/>
              </a:lnSpc>
              <a:spcBef>
                <a:spcPct val="0"/>
              </a:spcBef>
            </a:pPr>
            <a:r>
              <a:rPr lang="en-US" sz="2297" b="1" spc="39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Enfoque Estratégico: Producto Mínimo Viable (MVP).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277667" y="-1079382"/>
            <a:ext cx="3754024" cy="37540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72" y="469099"/>
            <a:ext cx="11239010" cy="2205543"/>
            <a:chOff x="0" y="0"/>
            <a:chExt cx="1357528" cy="266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7528" cy="266401"/>
            </a:xfrm>
            <a:custGeom>
              <a:avLst/>
              <a:gdLst/>
              <a:ahLst/>
              <a:cxnLst/>
              <a:rect l="l" t="t" r="r" b="b"/>
              <a:pathLst>
                <a:path w="1357528" h="266401">
                  <a:moveTo>
                    <a:pt x="203200" y="0"/>
                  </a:moveTo>
                  <a:lnTo>
                    <a:pt x="1357528" y="0"/>
                  </a:lnTo>
                  <a:lnTo>
                    <a:pt x="1154328" y="266401"/>
                  </a:lnTo>
                  <a:lnTo>
                    <a:pt x="0" y="26640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19050"/>
              <a:ext cx="1154328" cy="285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51886" y="1038470"/>
            <a:ext cx="8907799" cy="828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99"/>
              </a:lnSpc>
              <a:spcBef>
                <a:spcPct val="0"/>
              </a:spcBef>
            </a:pPr>
            <a:r>
              <a:rPr lang="en-US" sz="4927" spc="482">
                <a:solidFill>
                  <a:srgbClr val="FFFFFF"/>
                </a:solidFill>
                <a:latin typeface="TT Drugs"/>
                <a:ea typeface="TT Drugs"/>
                <a:cs typeface="TT Drugs"/>
                <a:sym typeface="TT Drugs"/>
              </a:rPr>
              <a:t> Metodología Aplicada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7891" y="3559444"/>
            <a:ext cx="5507845" cy="849250"/>
            <a:chOff x="0" y="0"/>
            <a:chExt cx="1643089" cy="2533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3089" cy="253346"/>
            </a:xfrm>
            <a:custGeom>
              <a:avLst/>
              <a:gdLst/>
              <a:ahLst/>
              <a:cxnLst/>
              <a:rect l="l" t="t" r="r" b="b"/>
              <a:pathLst>
                <a:path w="1643089" h="253346">
                  <a:moveTo>
                    <a:pt x="1439889" y="0"/>
                  </a:moveTo>
                  <a:lnTo>
                    <a:pt x="0" y="0"/>
                  </a:lnTo>
                  <a:lnTo>
                    <a:pt x="0" y="253346"/>
                  </a:lnTo>
                  <a:lnTo>
                    <a:pt x="1439889" y="253346"/>
                  </a:lnTo>
                  <a:lnTo>
                    <a:pt x="1643089" y="126673"/>
                  </a:lnTo>
                  <a:lnTo>
                    <a:pt x="1439889" y="0"/>
                  </a:lnTo>
                  <a:close/>
                </a:path>
              </a:pathLst>
            </a:custGeom>
            <a:solidFill>
              <a:srgbClr val="14356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528789" cy="281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92172" y="4470953"/>
            <a:ext cx="10037643" cy="3035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El proyecto se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dividió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en 5 sprints (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fases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trabajo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) para un desarrollo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ordenado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:</a:t>
            </a:r>
          </a:p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1.Planificación y Diseño (UI/UX)</a:t>
            </a:r>
          </a:p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2.Desarrollo Frontend Público (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Catálogo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ChatBot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).</a:t>
            </a:r>
          </a:p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3.Desarrollo Backend (BD MySQL, API en PHP)</a:t>
            </a:r>
          </a:p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4.Desarrollo Panel de Administración</a:t>
            </a:r>
          </a:p>
          <a:p>
            <a:pPr algn="l">
              <a:lnSpc>
                <a:spcPts val="3060"/>
              </a:lnSpc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5.Pruebas y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Despliegue</a:t>
            </a:r>
            <a:endParaRPr lang="en-US" sz="2217" b="1" spc="217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endParaRPr lang="en-US" sz="2217" b="1" spc="217" dirty="0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2172" y="3772203"/>
            <a:ext cx="5497905" cy="785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297" b="1" spc="39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Gestión por Sprints:</a:t>
            </a:r>
          </a:p>
          <a:p>
            <a:pPr marL="0" lvl="0" indent="0" algn="l">
              <a:lnSpc>
                <a:spcPts val="3170"/>
              </a:lnSpc>
              <a:spcBef>
                <a:spcPct val="0"/>
              </a:spcBef>
            </a:pPr>
            <a:endParaRPr lang="en-US" sz="2297" b="1" spc="39">
              <a:solidFill>
                <a:srgbClr val="FFFFFF"/>
              </a:solidFill>
              <a:latin typeface="TT Drugs Bold"/>
              <a:ea typeface="TT Drugs Bold"/>
              <a:cs typeface="TT Drugs Bold"/>
              <a:sym typeface="TT Drug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7711088"/>
            <a:ext cx="5989064" cy="849250"/>
            <a:chOff x="0" y="0"/>
            <a:chExt cx="7985418" cy="113233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343793" cy="1132333"/>
              <a:chOff x="0" y="0"/>
              <a:chExt cx="1643089" cy="25334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43089" cy="253346"/>
              </a:xfrm>
              <a:custGeom>
                <a:avLst/>
                <a:gdLst/>
                <a:ahLst/>
                <a:cxnLst/>
                <a:rect l="l" t="t" r="r" b="b"/>
                <a:pathLst>
                  <a:path w="1643089" h="253346">
                    <a:moveTo>
                      <a:pt x="1439889" y="0"/>
                    </a:moveTo>
                    <a:lnTo>
                      <a:pt x="0" y="0"/>
                    </a:lnTo>
                    <a:lnTo>
                      <a:pt x="0" y="253346"/>
                    </a:lnTo>
                    <a:lnTo>
                      <a:pt x="1439889" y="253346"/>
                    </a:lnTo>
                    <a:lnTo>
                      <a:pt x="1643089" y="126673"/>
                    </a:lnTo>
                    <a:lnTo>
                      <a:pt x="1439889" y="0"/>
                    </a:lnTo>
                    <a:close/>
                  </a:path>
                </a:pathLst>
              </a:custGeom>
              <a:solidFill>
                <a:srgbClr val="143567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528789" cy="2819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89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654879" y="321569"/>
              <a:ext cx="7330540" cy="50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70"/>
                </a:lnSpc>
                <a:spcBef>
                  <a:spcPct val="0"/>
                </a:spcBef>
              </a:pPr>
              <a:r>
                <a:rPr lang="en-US" sz="2297" b="1" spc="39">
                  <a:solidFill>
                    <a:srgbClr val="FFFFFF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Herramientas de Gestión: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942890" y="-1619080"/>
            <a:ext cx="3754024" cy="37540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92172" y="9118463"/>
            <a:ext cx="10037643" cy="36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0"/>
              </a:lnSpc>
              <a:spcBef>
                <a:spcPct val="0"/>
              </a:spcBef>
            </a:pP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Trello/Notion, </a:t>
            </a:r>
            <a:r>
              <a:rPr lang="en-US" sz="2217" b="1" spc="217" dirty="0" err="1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Lucidchart</a:t>
            </a:r>
            <a:r>
              <a:rPr lang="en-US" sz="2217" b="1" spc="217" dirty="0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, Figma, GitHub.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97301"/>
            <a:ext cx="18288000" cy="6551399"/>
          </a:xfrm>
          <a:custGeom>
            <a:avLst/>
            <a:gdLst/>
            <a:ahLst/>
            <a:cxnLst/>
            <a:rect l="l" t="t" r="r" b="b"/>
            <a:pathLst>
              <a:path w="18288000" h="6551399">
                <a:moveTo>
                  <a:pt x="0" y="0"/>
                </a:moveTo>
                <a:lnTo>
                  <a:pt x="18288000" y="0"/>
                </a:lnTo>
                <a:lnTo>
                  <a:pt x="18288000" y="6551399"/>
                </a:lnTo>
                <a:lnTo>
                  <a:pt x="0" y="6551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0449" b="-15404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323963" y="666179"/>
            <a:ext cx="4690900" cy="1051614"/>
            <a:chOff x="0" y="0"/>
            <a:chExt cx="1286234" cy="288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6234" cy="288350"/>
            </a:xfrm>
            <a:custGeom>
              <a:avLst/>
              <a:gdLst/>
              <a:ahLst/>
              <a:cxnLst/>
              <a:rect l="l" t="t" r="r" b="b"/>
              <a:pathLst>
                <a:path w="1286234" h="288350">
                  <a:moveTo>
                    <a:pt x="6602" y="0"/>
                  </a:moveTo>
                  <a:lnTo>
                    <a:pt x="1279633" y="0"/>
                  </a:lnTo>
                  <a:cubicBezTo>
                    <a:pt x="1283279" y="0"/>
                    <a:pt x="1286234" y="2956"/>
                    <a:pt x="1286234" y="6602"/>
                  </a:cubicBezTo>
                  <a:lnTo>
                    <a:pt x="1286234" y="281748"/>
                  </a:lnTo>
                  <a:cubicBezTo>
                    <a:pt x="1286234" y="285394"/>
                    <a:pt x="1283279" y="288350"/>
                    <a:pt x="1279633" y="288350"/>
                  </a:cubicBezTo>
                  <a:lnTo>
                    <a:pt x="6602" y="288350"/>
                  </a:lnTo>
                  <a:cubicBezTo>
                    <a:pt x="4851" y="288350"/>
                    <a:pt x="3172" y="287655"/>
                    <a:pt x="1934" y="286417"/>
                  </a:cubicBezTo>
                  <a:cubicBezTo>
                    <a:pt x="696" y="285178"/>
                    <a:pt x="0" y="283499"/>
                    <a:pt x="0" y="281748"/>
                  </a:cubicBezTo>
                  <a:lnTo>
                    <a:pt x="0" y="6602"/>
                  </a:lnTo>
                  <a:cubicBezTo>
                    <a:pt x="0" y="2956"/>
                    <a:pt x="2956" y="0"/>
                    <a:pt x="6602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286234" cy="307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T Drugs"/>
                  <a:ea typeface="TT Drugs"/>
                  <a:cs typeface="TT Drugs"/>
                  <a:sym typeface="TT Drugs"/>
                </a:rPr>
                <a:t>DIAGRAMA EDT</a:t>
              </a:r>
              <a:r>
                <a:rPr lang="en-US" sz="2199" u="none">
                  <a:solidFill>
                    <a:srgbClr val="000000"/>
                  </a:solidFill>
                  <a:latin typeface="TT Drugs"/>
                  <a:ea typeface="TT Drugs"/>
                  <a:cs typeface="TT Drugs"/>
                  <a:sym typeface="TT Drugs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22918" y="9033351"/>
            <a:ext cx="7092705" cy="709270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942890" y="-1619080"/>
            <a:ext cx="3754024" cy="37540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795970" y="8556999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-2017533" y="-2191570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>
            <a:off x="730654" y="4126332"/>
            <a:ext cx="3596149" cy="1404002"/>
            <a:chOff x="0" y="0"/>
            <a:chExt cx="4794866" cy="1872003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4794866" cy="1872003"/>
              <a:chOff x="0" y="0"/>
              <a:chExt cx="6146640" cy="23997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146673" cy="2399792"/>
              </a:xfrm>
              <a:custGeom>
                <a:avLst/>
                <a:gdLst/>
                <a:ahLst/>
                <a:cxnLst/>
                <a:rect l="l" t="t" r="r" b="b"/>
                <a:pathLst>
                  <a:path w="6146673" h="2399792">
                    <a:moveTo>
                      <a:pt x="4943221" y="0"/>
                    </a:moveTo>
                    <a:cubicBezTo>
                      <a:pt x="1211072" y="0"/>
                      <a:pt x="1211072" y="0"/>
                      <a:pt x="1211072" y="0"/>
                    </a:cubicBezTo>
                    <a:cubicBezTo>
                      <a:pt x="556006" y="0"/>
                      <a:pt x="15240" y="540893"/>
                      <a:pt x="15240" y="1196086"/>
                    </a:cubicBezTo>
                    <a:cubicBezTo>
                      <a:pt x="15240" y="1409446"/>
                      <a:pt x="68580" y="1607439"/>
                      <a:pt x="167513" y="1782699"/>
                    </a:cubicBezTo>
                    <a:cubicBezTo>
                      <a:pt x="0" y="2262632"/>
                      <a:pt x="0" y="2262632"/>
                      <a:pt x="0" y="2262632"/>
                    </a:cubicBezTo>
                    <a:cubicBezTo>
                      <a:pt x="502666" y="2163572"/>
                      <a:pt x="502666" y="2163572"/>
                      <a:pt x="502666" y="2163572"/>
                    </a:cubicBezTo>
                    <a:cubicBezTo>
                      <a:pt x="700659" y="2308352"/>
                      <a:pt x="951992" y="2399792"/>
                      <a:pt x="1211072" y="2399792"/>
                    </a:cubicBezTo>
                    <a:cubicBezTo>
                      <a:pt x="4943221" y="2399792"/>
                      <a:pt x="4943221" y="2399792"/>
                      <a:pt x="4943221" y="2399792"/>
                    </a:cubicBezTo>
                    <a:cubicBezTo>
                      <a:pt x="5605907" y="2399792"/>
                      <a:pt x="6146673" y="1858899"/>
                      <a:pt x="6146673" y="1196086"/>
                    </a:cubicBezTo>
                    <a:cubicBezTo>
                      <a:pt x="6146673" y="540893"/>
                      <a:pt x="5605907" y="0"/>
                      <a:pt x="4943221" y="0"/>
                    </a:cubicBezTo>
                    <a:close/>
                  </a:path>
                </a:pathLst>
              </a:custGeom>
              <a:solidFill>
                <a:srgbClr val="4BACC6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38142" y="272695"/>
              <a:ext cx="1201125" cy="1201125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941043" y="584469"/>
              <a:ext cx="2120149" cy="645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0"/>
                </a:lnSpc>
                <a:spcBef>
                  <a:spcPct val="0"/>
                </a:spcBef>
              </a:pPr>
              <a:r>
                <a:rPr lang="en-US" sz="2935" b="1" spc="287">
                  <a:solidFill>
                    <a:srgbClr val="FFFFFF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HTML5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30654" y="5750600"/>
            <a:ext cx="3596149" cy="1320436"/>
            <a:chOff x="0" y="0"/>
            <a:chExt cx="4794866" cy="176058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794866" cy="1760582"/>
              <a:chOff x="0" y="0"/>
              <a:chExt cx="6537600" cy="24004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537452" cy="2400554"/>
              </a:xfrm>
              <a:custGeom>
                <a:avLst/>
                <a:gdLst/>
                <a:ahLst/>
                <a:cxnLst/>
                <a:rect l="l" t="t" r="r" b="b"/>
                <a:pathLst>
                  <a:path w="6537452" h="2400554">
                    <a:moveTo>
                      <a:pt x="5333746" y="0"/>
                    </a:moveTo>
                    <a:cubicBezTo>
                      <a:pt x="1607693" y="0"/>
                      <a:pt x="1607693" y="0"/>
                      <a:pt x="1607693" y="0"/>
                    </a:cubicBezTo>
                    <a:cubicBezTo>
                      <a:pt x="1036320" y="0"/>
                      <a:pt x="548640" y="403860"/>
                      <a:pt x="434340" y="945007"/>
                    </a:cubicBezTo>
                    <a:cubicBezTo>
                      <a:pt x="0" y="1204087"/>
                      <a:pt x="0" y="1204087"/>
                      <a:pt x="0" y="1204087"/>
                    </a:cubicBezTo>
                    <a:cubicBezTo>
                      <a:pt x="434340" y="1447927"/>
                      <a:pt x="434340" y="1447927"/>
                      <a:pt x="434340" y="1447927"/>
                    </a:cubicBezTo>
                    <a:cubicBezTo>
                      <a:pt x="548640" y="1996567"/>
                      <a:pt x="1028700" y="2400554"/>
                      <a:pt x="1607693" y="2400554"/>
                    </a:cubicBezTo>
                    <a:cubicBezTo>
                      <a:pt x="5333619" y="2400554"/>
                      <a:pt x="5333619" y="2400554"/>
                      <a:pt x="5333619" y="2400554"/>
                    </a:cubicBezTo>
                    <a:cubicBezTo>
                      <a:pt x="5996559" y="2400554"/>
                      <a:pt x="6537452" y="1859534"/>
                      <a:pt x="6537452" y="1196467"/>
                    </a:cubicBezTo>
                    <a:cubicBezTo>
                      <a:pt x="6537452" y="533400"/>
                      <a:pt x="5996559" y="0"/>
                      <a:pt x="5333746" y="0"/>
                    </a:cubicBezTo>
                    <a:close/>
                  </a:path>
                </a:pathLst>
              </a:custGeom>
              <a:solidFill>
                <a:srgbClr val="4BACC6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04662" y="315643"/>
              <a:ext cx="1129296" cy="1129296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20052" b="-20052"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2111707" y="546363"/>
              <a:ext cx="1993360" cy="6107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08"/>
                </a:lnSpc>
                <a:spcBef>
                  <a:spcPct val="0"/>
                </a:spcBef>
              </a:pPr>
              <a:r>
                <a:rPr lang="en-US" sz="2759" b="1" spc="270">
                  <a:solidFill>
                    <a:srgbClr val="FFFFFF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CSS3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0428" y="7290111"/>
            <a:ext cx="3818718" cy="1368762"/>
            <a:chOff x="0" y="0"/>
            <a:chExt cx="5091624" cy="1825016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4666116" cy="1825016"/>
              <a:chOff x="0" y="0"/>
              <a:chExt cx="6146640" cy="240408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146673" cy="2404110"/>
              </a:xfrm>
              <a:custGeom>
                <a:avLst/>
                <a:gdLst/>
                <a:ahLst/>
                <a:cxnLst/>
                <a:rect l="l" t="t" r="r" b="b"/>
                <a:pathLst>
                  <a:path w="6146673" h="2404110">
                    <a:moveTo>
                      <a:pt x="4943221" y="0"/>
                    </a:moveTo>
                    <a:cubicBezTo>
                      <a:pt x="1211072" y="0"/>
                      <a:pt x="1211072" y="0"/>
                      <a:pt x="1211072" y="0"/>
                    </a:cubicBezTo>
                    <a:cubicBezTo>
                      <a:pt x="952119" y="0"/>
                      <a:pt x="700786" y="83947"/>
                      <a:pt x="502666" y="228981"/>
                    </a:cubicBezTo>
                    <a:cubicBezTo>
                      <a:pt x="0" y="137414"/>
                      <a:pt x="0" y="137414"/>
                      <a:pt x="0" y="137414"/>
                    </a:cubicBezTo>
                    <a:cubicBezTo>
                      <a:pt x="167513" y="618236"/>
                      <a:pt x="167513" y="618236"/>
                      <a:pt x="167513" y="618236"/>
                    </a:cubicBezTo>
                    <a:cubicBezTo>
                      <a:pt x="68580" y="793750"/>
                      <a:pt x="15240" y="992124"/>
                      <a:pt x="15240" y="1198245"/>
                    </a:cubicBezTo>
                    <a:cubicBezTo>
                      <a:pt x="15240" y="1862201"/>
                      <a:pt x="556006" y="2404110"/>
                      <a:pt x="1211072" y="2404110"/>
                    </a:cubicBezTo>
                    <a:cubicBezTo>
                      <a:pt x="4943221" y="2404110"/>
                      <a:pt x="4943221" y="2404110"/>
                      <a:pt x="4943221" y="2404110"/>
                    </a:cubicBezTo>
                    <a:cubicBezTo>
                      <a:pt x="5605907" y="2404110"/>
                      <a:pt x="6146673" y="1862201"/>
                      <a:pt x="6146673" y="1198245"/>
                    </a:cubicBezTo>
                    <a:cubicBezTo>
                      <a:pt x="6146673" y="541909"/>
                      <a:pt x="5605907" y="0"/>
                      <a:pt x="4943221" y="0"/>
                    </a:cubicBezTo>
                    <a:close/>
                  </a:path>
                </a:pathLst>
              </a:custGeom>
              <a:solidFill>
                <a:srgbClr val="4BACC6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390988" y="328072"/>
              <a:ext cx="1168873" cy="1168873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4122" b="-4122"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559861" y="545970"/>
              <a:ext cx="3531763" cy="630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41"/>
                </a:lnSpc>
                <a:spcBef>
                  <a:spcPct val="0"/>
                </a:spcBef>
              </a:pPr>
              <a:r>
                <a:rPr lang="en-US" sz="2856" b="1" spc="279">
                  <a:solidFill>
                    <a:srgbClr val="FFFFFF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JavaScript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04317" y="4330853"/>
            <a:ext cx="3596149" cy="1404002"/>
            <a:chOff x="0" y="0"/>
            <a:chExt cx="4794866" cy="1872003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794866" cy="1872003"/>
              <a:chOff x="0" y="0"/>
              <a:chExt cx="6146640" cy="23997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146673" cy="2399792"/>
              </a:xfrm>
              <a:custGeom>
                <a:avLst/>
                <a:gdLst/>
                <a:ahLst/>
                <a:cxnLst/>
                <a:rect l="l" t="t" r="r" b="b"/>
                <a:pathLst>
                  <a:path w="6146673" h="2399792">
                    <a:moveTo>
                      <a:pt x="4943221" y="0"/>
                    </a:moveTo>
                    <a:cubicBezTo>
                      <a:pt x="1211072" y="0"/>
                      <a:pt x="1211072" y="0"/>
                      <a:pt x="1211072" y="0"/>
                    </a:cubicBezTo>
                    <a:cubicBezTo>
                      <a:pt x="556006" y="0"/>
                      <a:pt x="15240" y="540893"/>
                      <a:pt x="15240" y="1196086"/>
                    </a:cubicBezTo>
                    <a:cubicBezTo>
                      <a:pt x="15240" y="1409446"/>
                      <a:pt x="68580" y="1607439"/>
                      <a:pt x="167513" y="1782699"/>
                    </a:cubicBezTo>
                    <a:cubicBezTo>
                      <a:pt x="0" y="2262632"/>
                      <a:pt x="0" y="2262632"/>
                      <a:pt x="0" y="2262632"/>
                    </a:cubicBezTo>
                    <a:cubicBezTo>
                      <a:pt x="502666" y="2163572"/>
                      <a:pt x="502666" y="2163572"/>
                      <a:pt x="502666" y="2163572"/>
                    </a:cubicBezTo>
                    <a:cubicBezTo>
                      <a:pt x="700659" y="2308352"/>
                      <a:pt x="951992" y="2399792"/>
                      <a:pt x="1211072" y="2399792"/>
                    </a:cubicBezTo>
                    <a:cubicBezTo>
                      <a:pt x="4943221" y="2399792"/>
                      <a:pt x="4943221" y="2399792"/>
                      <a:pt x="4943221" y="2399792"/>
                    </a:cubicBezTo>
                    <a:cubicBezTo>
                      <a:pt x="5605907" y="2399792"/>
                      <a:pt x="6146673" y="1858899"/>
                      <a:pt x="6146673" y="1196086"/>
                    </a:cubicBezTo>
                    <a:cubicBezTo>
                      <a:pt x="6146673" y="540893"/>
                      <a:pt x="5605907" y="0"/>
                      <a:pt x="4943221" y="0"/>
                    </a:cubicBezTo>
                    <a:close/>
                  </a:path>
                </a:pathLst>
              </a:custGeom>
              <a:solidFill>
                <a:srgbClr val="4BACC6"/>
              </a:solidFill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63082" y="335439"/>
              <a:ext cx="1201125" cy="1201125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42735" r="-42735"/>
                </a:stretch>
              </a:blipFill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066095" y="606156"/>
              <a:ext cx="2120149" cy="645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50"/>
                </a:lnSpc>
                <a:spcBef>
                  <a:spcPct val="0"/>
                </a:spcBef>
              </a:pPr>
              <a:r>
                <a:rPr lang="en-US" sz="2935" b="1" spc="287">
                  <a:solidFill>
                    <a:srgbClr val="FFFFFF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PHP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424878" y="4126332"/>
            <a:ext cx="3596149" cy="1404002"/>
            <a:chOff x="0" y="0"/>
            <a:chExt cx="6146640" cy="23997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146673" cy="2399792"/>
            </a:xfrm>
            <a:custGeom>
              <a:avLst/>
              <a:gdLst/>
              <a:ahLst/>
              <a:cxnLst/>
              <a:rect l="l" t="t" r="r" b="b"/>
              <a:pathLst>
                <a:path w="6146673" h="2399792">
                  <a:moveTo>
                    <a:pt x="4943221" y="0"/>
                  </a:moveTo>
                  <a:cubicBezTo>
                    <a:pt x="1211072" y="0"/>
                    <a:pt x="1211072" y="0"/>
                    <a:pt x="1211072" y="0"/>
                  </a:cubicBezTo>
                  <a:cubicBezTo>
                    <a:pt x="556006" y="0"/>
                    <a:pt x="15240" y="540893"/>
                    <a:pt x="15240" y="1196086"/>
                  </a:cubicBezTo>
                  <a:cubicBezTo>
                    <a:pt x="15240" y="1409446"/>
                    <a:pt x="68580" y="1607439"/>
                    <a:pt x="167513" y="1782699"/>
                  </a:cubicBezTo>
                  <a:cubicBezTo>
                    <a:pt x="0" y="2262632"/>
                    <a:pt x="0" y="2262632"/>
                    <a:pt x="0" y="2262632"/>
                  </a:cubicBezTo>
                  <a:cubicBezTo>
                    <a:pt x="502666" y="2163572"/>
                    <a:pt x="502666" y="2163572"/>
                    <a:pt x="502666" y="2163572"/>
                  </a:cubicBezTo>
                  <a:cubicBezTo>
                    <a:pt x="700659" y="2308352"/>
                    <a:pt x="951992" y="2399792"/>
                    <a:pt x="1211072" y="2399792"/>
                  </a:cubicBezTo>
                  <a:cubicBezTo>
                    <a:pt x="4943221" y="2399792"/>
                    <a:pt x="4943221" y="2399792"/>
                    <a:pt x="4943221" y="2399792"/>
                  </a:cubicBezTo>
                  <a:cubicBezTo>
                    <a:pt x="5605907" y="2399792"/>
                    <a:pt x="6146673" y="1858899"/>
                    <a:pt x="6146673" y="1196086"/>
                  </a:cubicBezTo>
                  <a:cubicBezTo>
                    <a:pt x="6146673" y="540893"/>
                    <a:pt x="5605907" y="0"/>
                    <a:pt x="4943221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697190" y="4377911"/>
            <a:ext cx="900844" cy="90084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000" r="-2500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938650" y="750174"/>
            <a:ext cx="11148840" cy="1658557"/>
            <a:chOff x="0" y="0"/>
            <a:chExt cx="1418499" cy="21102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18498" cy="211023"/>
            </a:xfrm>
            <a:custGeom>
              <a:avLst/>
              <a:gdLst/>
              <a:ahLst/>
              <a:cxnLst/>
              <a:rect l="l" t="t" r="r" b="b"/>
              <a:pathLst>
                <a:path w="1418498" h="211023">
                  <a:moveTo>
                    <a:pt x="0" y="0"/>
                  </a:moveTo>
                  <a:lnTo>
                    <a:pt x="1418498" y="0"/>
                  </a:lnTo>
                  <a:lnTo>
                    <a:pt x="1418498" y="211023"/>
                  </a:lnTo>
                  <a:lnTo>
                    <a:pt x="0" y="211023"/>
                  </a:lnTo>
                  <a:close/>
                </a:path>
              </a:pathLst>
            </a:custGeom>
            <a:solidFill>
              <a:srgbClr val="4BACC6">
                <a:alpha val="8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1418499" cy="230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535830" y="1036298"/>
            <a:ext cx="9378107" cy="98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22"/>
              </a:lnSpc>
              <a:spcBef>
                <a:spcPct val="0"/>
              </a:spcBef>
            </a:pPr>
            <a:r>
              <a:rPr lang="en-US" sz="5813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Tecn</a:t>
            </a:r>
            <a:r>
              <a:rPr lang="en-US" sz="5813" u="none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ologías Aplicadas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0654" y="2760557"/>
            <a:ext cx="5017505" cy="8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1"/>
              </a:lnSpc>
              <a:spcBef>
                <a:spcPct val="0"/>
              </a:spcBef>
            </a:pPr>
            <a:r>
              <a:rPr lang="en-US" sz="5276" b="1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Frontend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04317" y="2760557"/>
            <a:ext cx="5017505" cy="8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1"/>
              </a:lnSpc>
              <a:spcBef>
                <a:spcPct val="0"/>
              </a:spcBef>
            </a:pPr>
            <a:r>
              <a:rPr lang="en-US" sz="5276" b="1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BackEnd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24878" y="2760557"/>
            <a:ext cx="5017505" cy="8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1"/>
              </a:lnSpc>
              <a:spcBef>
                <a:spcPct val="0"/>
              </a:spcBef>
            </a:pPr>
            <a:r>
              <a:rPr lang="en-US" sz="5276" b="1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Base de datos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913937" y="4550396"/>
            <a:ext cx="1590111" cy="49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  <a:spcBef>
                <a:spcPct val="0"/>
              </a:spcBef>
            </a:pPr>
            <a:r>
              <a:rPr lang="en-US" sz="2935" b="1" spc="287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MySql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22918" y="9033351"/>
            <a:ext cx="7092705" cy="709270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942890" y="-1619080"/>
            <a:ext cx="3754024" cy="37540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795970" y="8556999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-2017533" y="-2191570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0" name="Group 10"/>
          <p:cNvGrpSpPr/>
          <p:nvPr/>
        </p:nvGrpSpPr>
        <p:grpSpPr>
          <a:xfrm>
            <a:off x="4739330" y="4088473"/>
            <a:ext cx="3818731" cy="1404002"/>
            <a:chOff x="0" y="0"/>
            <a:chExt cx="6527083" cy="2399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27116" cy="2399792"/>
            </a:xfrm>
            <a:custGeom>
              <a:avLst/>
              <a:gdLst/>
              <a:ahLst/>
              <a:cxnLst/>
              <a:rect l="l" t="t" r="r" b="b"/>
              <a:pathLst>
                <a:path w="6527116" h="2399792">
                  <a:moveTo>
                    <a:pt x="5249179" y="0"/>
                  </a:moveTo>
                  <a:cubicBezTo>
                    <a:pt x="1286031" y="0"/>
                    <a:pt x="1286031" y="0"/>
                    <a:pt x="1286031" y="0"/>
                  </a:cubicBezTo>
                  <a:cubicBezTo>
                    <a:pt x="590420" y="0"/>
                    <a:pt x="16183" y="540893"/>
                    <a:pt x="16183" y="1196086"/>
                  </a:cubicBezTo>
                  <a:cubicBezTo>
                    <a:pt x="16183" y="1409446"/>
                    <a:pt x="72825" y="1607439"/>
                    <a:pt x="177881" y="1782699"/>
                  </a:cubicBezTo>
                  <a:cubicBezTo>
                    <a:pt x="0" y="2262632"/>
                    <a:pt x="0" y="2262632"/>
                    <a:pt x="0" y="2262632"/>
                  </a:cubicBezTo>
                  <a:cubicBezTo>
                    <a:pt x="533778" y="2163572"/>
                    <a:pt x="533778" y="2163572"/>
                    <a:pt x="533778" y="2163572"/>
                  </a:cubicBezTo>
                  <a:cubicBezTo>
                    <a:pt x="744026" y="2308352"/>
                    <a:pt x="1010915" y="2399792"/>
                    <a:pt x="1286031" y="2399792"/>
                  </a:cubicBezTo>
                  <a:cubicBezTo>
                    <a:pt x="5249179" y="2399792"/>
                    <a:pt x="5249179" y="2399792"/>
                    <a:pt x="5249179" y="2399792"/>
                  </a:cubicBezTo>
                  <a:cubicBezTo>
                    <a:pt x="5952881" y="2399792"/>
                    <a:pt x="6527116" y="1858899"/>
                    <a:pt x="6527116" y="1196086"/>
                  </a:cubicBezTo>
                  <a:cubicBezTo>
                    <a:pt x="6527116" y="540893"/>
                    <a:pt x="5952881" y="0"/>
                    <a:pt x="5249179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9146" y="5930625"/>
            <a:ext cx="4134811" cy="1582783"/>
            <a:chOff x="0" y="0"/>
            <a:chExt cx="7516857" cy="28774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516687" cy="2877487"/>
            </a:xfrm>
            <a:custGeom>
              <a:avLst/>
              <a:gdLst/>
              <a:ahLst/>
              <a:cxnLst/>
              <a:rect l="l" t="t" r="r" b="b"/>
              <a:pathLst>
                <a:path w="7516687" h="2877487">
                  <a:moveTo>
                    <a:pt x="6132680" y="0"/>
                  </a:moveTo>
                  <a:cubicBezTo>
                    <a:pt x="1848507" y="0"/>
                    <a:pt x="1848507" y="0"/>
                    <a:pt x="1848507" y="0"/>
                  </a:cubicBezTo>
                  <a:cubicBezTo>
                    <a:pt x="1191549" y="0"/>
                    <a:pt x="630820" y="484100"/>
                    <a:pt x="499399" y="1132763"/>
                  </a:cubicBezTo>
                  <a:cubicBezTo>
                    <a:pt x="0" y="1443318"/>
                    <a:pt x="0" y="1443318"/>
                    <a:pt x="0" y="1443318"/>
                  </a:cubicBezTo>
                  <a:cubicBezTo>
                    <a:pt x="499399" y="1735604"/>
                    <a:pt x="499399" y="1735604"/>
                    <a:pt x="499399" y="1735604"/>
                  </a:cubicBezTo>
                  <a:cubicBezTo>
                    <a:pt x="630820" y="2393249"/>
                    <a:pt x="1182787" y="2877487"/>
                    <a:pt x="1848507" y="2877487"/>
                  </a:cubicBezTo>
                  <a:cubicBezTo>
                    <a:pt x="6132533" y="2877487"/>
                    <a:pt x="6132533" y="2877487"/>
                    <a:pt x="6132533" y="2877487"/>
                  </a:cubicBezTo>
                  <a:cubicBezTo>
                    <a:pt x="6894774" y="2877487"/>
                    <a:pt x="7516687" y="2228990"/>
                    <a:pt x="7516687" y="1434184"/>
                  </a:cubicBezTo>
                  <a:cubicBezTo>
                    <a:pt x="7516687" y="639377"/>
                    <a:pt x="6894774" y="0"/>
                    <a:pt x="6132680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79510" y="4366988"/>
            <a:ext cx="884763" cy="846972"/>
            <a:chOff x="0" y="0"/>
            <a:chExt cx="849067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9067" cy="812800"/>
            </a:xfrm>
            <a:custGeom>
              <a:avLst/>
              <a:gdLst/>
              <a:ahLst/>
              <a:cxnLst/>
              <a:rect l="l" t="t" r="r" b="b"/>
              <a:pathLst>
                <a:path w="849067" h="812800">
                  <a:moveTo>
                    <a:pt x="424533" y="0"/>
                  </a:moveTo>
                  <a:cubicBezTo>
                    <a:pt x="190070" y="0"/>
                    <a:pt x="0" y="181951"/>
                    <a:pt x="0" y="406400"/>
                  </a:cubicBezTo>
                  <a:cubicBezTo>
                    <a:pt x="0" y="630849"/>
                    <a:pt x="190070" y="812800"/>
                    <a:pt x="424533" y="812800"/>
                  </a:cubicBezTo>
                  <a:cubicBezTo>
                    <a:pt x="658997" y="812800"/>
                    <a:pt x="849067" y="630849"/>
                    <a:pt x="849067" y="406400"/>
                  </a:cubicBezTo>
                  <a:cubicBezTo>
                    <a:pt x="849067" y="181951"/>
                    <a:pt x="658997" y="0"/>
                    <a:pt x="424533" y="0"/>
                  </a:cubicBezTo>
                  <a:close/>
                </a:path>
              </a:pathLst>
            </a:custGeom>
            <a:blipFill>
              <a:blip r:embed="rId4"/>
              <a:stretch>
                <a:fillRect t="-2230" b="-2230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39604" y="7872356"/>
            <a:ext cx="3818456" cy="1368762"/>
            <a:chOff x="0" y="0"/>
            <a:chExt cx="6706698" cy="24040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06731" cy="2404110"/>
            </a:xfrm>
            <a:custGeom>
              <a:avLst/>
              <a:gdLst/>
              <a:ahLst/>
              <a:cxnLst/>
              <a:rect l="l" t="t" r="r" b="b"/>
              <a:pathLst>
                <a:path w="6706731" h="2404110">
                  <a:moveTo>
                    <a:pt x="5393628" y="0"/>
                  </a:moveTo>
                  <a:cubicBezTo>
                    <a:pt x="1321420" y="0"/>
                    <a:pt x="1321420" y="0"/>
                    <a:pt x="1321420" y="0"/>
                  </a:cubicBezTo>
                  <a:cubicBezTo>
                    <a:pt x="1038872" y="0"/>
                    <a:pt x="764639" y="83947"/>
                    <a:pt x="548467" y="228981"/>
                  </a:cubicBezTo>
                  <a:cubicBezTo>
                    <a:pt x="0" y="137414"/>
                    <a:pt x="0" y="137414"/>
                    <a:pt x="0" y="137414"/>
                  </a:cubicBezTo>
                  <a:cubicBezTo>
                    <a:pt x="182776" y="618236"/>
                    <a:pt x="182776" y="618236"/>
                    <a:pt x="182776" y="618236"/>
                  </a:cubicBezTo>
                  <a:cubicBezTo>
                    <a:pt x="74829" y="793750"/>
                    <a:pt x="16629" y="992124"/>
                    <a:pt x="16629" y="1198245"/>
                  </a:cubicBezTo>
                  <a:cubicBezTo>
                    <a:pt x="16629" y="1862201"/>
                    <a:pt x="606667" y="2404110"/>
                    <a:pt x="1321420" y="2404110"/>
                  </a:cubicBezTo>
                  <a:cubicBezTo>
                    <a:pt x="5393628" y="2404110"/>
                    <a:pt x="5393628" y="2404110"/>
                    <a:pt x="5393628" y="2404110"/>
                  </a:cubicBezTo>
                  <a:cubicBezTo>
                    <a:pt x="6116695" y="2404110"/>
                    <a:pt x="6706731" y="1862201"/>
                    <a:pt x="6706731" y="1198245"/>
                  </a:cubicBezTo>
                  <a:cubicBezTo>
                    <a:pt x="6706731" y="541909"/>
                    <a:pt x="6116695" y="0"/>
                    <a:pt x="5393628" y="0"/>
                  </a:cubicBezTo>
                  <a:close/>
                </a:path>
              </a:pathLst>
            </a:custGeom>
            <a:solidFill>
              <a:srgbClr val="4BACC6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007672" y="8132507"/>
            <a:ext cx="956601" cy="900844"/>
            <a:chOff x="0" y="0"/>
            <a:chExt cx="863108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63108" cy="812800"/>
            </a:xfrm>
            <a:custGeom>
              <a:avLst/>
              <a:gdLst/>
              <a:ahLst/>
              <a:cxnLst/>
              <a:rect l="l" t="t" r="r" b="b"/>
              <a:pathLst>
                <a:path w="863108" h="812800">
                  <a:moveTo>
                    <a:pt x="431554" y="0"/>
                  </a:moveTo>
                  <a:cubicBezTo>
                    <a:pt x="193213" y="0"/>
                    <a:pt x="0" y="181951"/>
                    <a:pt x="0" y="406400"/>
                  </a:cubicBezTo>
                  <a:cubicBezTo>
                    <a:pt x="0" y="630849"/>
                    <a:pt x="193213" y="812800"/>
                    <a:pt x="431554" y="812800"/>
                  </a:cubicBezTo>
                  <a:cubicBezTo>
                    <a:pt x="669894" y="812800"/>
                    <a:pt x="863108" y="630849"/>
                    <a:pt x="863108" y="406400"/>
                  </a:cubicBezTo>
                  <a:cubicBezTo>
                    <a:pt x="863108" y="181951"/>
                    <a:pt x="669894" y="0"/>
                    <a:pt x="431554" y="0"/>
                  </a:cubicBezTo>
                  <a:close/>
                </a:path>
              </a:pathLst>
            </a:custGeom>
            <a:blipFill>
              <a:blip r:embed="rId5"/>
              <a:stretch>
                <a:fillRect l="-33707" r="-33707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38650" y="750174"/>
            <a:ext cx="11148840" cy="1658557"/>
            <a:chOff x="0" y="0"/>
            <a:chExt cx="1418499" cy="2110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8498" cy="211023"/>
            </a:xfrm>
            <a:custGeom>
              <a:avLst/>
              <a:gdLst/>
              <a:ahLst/>
              <a:cxnLst/>
              <a:rect l="l" t="t" r="r" b="b"/>
              <a:pathLst>
                <a:path w="1418498" h="211023">
                  <a:moveTo>
                    <a:pt x="0" y="0"/>
                  </a:moveTo>
                  <a:lnTo>
                    <a:pt x="1418498" y="0"/>
                  </a:lnTo>
                  <a:lnTo>
                    <a:pt x="1418498" y="211023"/>
                  </a:lnTo>
                  <a:lnTo>
                    <a:pt x="0" y="211023"/>
                  </a:lnTo>
                  <a:close/>
                </a:path>
              </a:pathLst>
            </a:custGeom>
            <a:solidFill>
              <a:srgbClr val="4BACC6">
                <a:alpha val="8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418499" cy="2300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07672" y="6231993"/>
            <a:ext cx="956601" cy="900844"/>
            <a:chOff x="0" y="0"/>
            <a:chExt cx="863108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63108" cy="812800"/>
            </a:xfrm>
            <a:custGeom>
              <a:avLst/>
              <a:gdLst/>
              <a:ahLst/>
              <a:cxnLst/>
              <a:rect l="l" t="t" r="r" b="b"/>
              <a:pathLst>
                <a:path w="863108" h="812800">
                  <a:moveTo>
                    <a:pt x="431554" y="0"/>
                  </a:moveTo>
                  <a:cubicBezTo>
                    <a:pt x="193213" y="0"/>
                    <a:pt x="0" y="181951"/>
                    <a:pt x="0" y="406400"/>
                  </a:cubicBezTo>
                  <a:cubicBezTo>
                    <a:pt x="0" y="630849"/>
                    <a:pt x="193213" y="812800"/>
                    <a:pt x="431554" y="812800"/>
                  </a:cubicBezTo>
                  <a:cubicBezTo>
                    <a:pt x="669894" y="812800"/>
                    <a:pt x="863108" y="630849"/>
                    <a:pt x="863108" y="406400"/>
                  </a:cubicBezTo>
                  <a:cubicBezTo>
                    <a:pt x="863108" y="181951"/>
                    <a:pt x="669894" y="0"/>
                    <a:pt x="431554" y="0"/>
                  </a:cubicBezTo>
                  <a:close/>
                </a:path>
              </a:pathLst>
            </a:custGeom>
            <a:blipFill>
              <a:blip r:embed="rId6"/>
              <a:stretch>
                <a:fillRect t="-3094" b="-309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285217" y="4512537"/>
            <a:ext cx="1688530" cy="49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  <a:spcBef>
                <a:spcPct val="0"/>
              </a:spcBef>
            </a:pPr>
            <a:r>
              <a:rPr lang="en-US" sz="2935" b="1" spc="287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Figma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93261" y="6457283"/>
            <a:ext cx="2620695" cy="4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08"/>
              </a:lnSpc>
              <a:spcBef>
                <a:spcPct val="0"/>
              </a:spcBef>
            </a:pPr>
            <a:r>
              <a:rPr lang="en-US" sz="2759" b="1" spc="270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LucidChart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53828" y="8301910"/>
            <a:ext cx="2890172" cy="48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41"/>
              </a:lnSpc>
              <a:spcBef>
                <a:spcPct val="0"/>
              </a:spcBef>
            </a:pPr>
            <a:r>
              <a:rPr lang="en-US" sz="2856" b="1" spc="279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GitHub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35830" y="1036298"/>
            <a:ext cx="9378107" cy="98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22"/>
              </a:lnSpc>
              <a:spcBef>
                <a:spcPct val="0"/>
              </a:spcBef>
            </a:pPr>
            <a:r>
              <a:rPr lang="en-US" sz="5813" spc="569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Tecn</a:t>
            </a:r>
            <a:r>
              <a:rPr lang="en-US" sz="5813" u="none" spc="569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ologías</a:t>
            </a:r>
            <a:r>
              <a:rPr lang="en-US" sz="5813" u="none" spc="569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</a:t>
            </a:r>
            <a:r>
              <a:rPr lang="en-US" sz="5813" u="none" spc="569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Aplicadas</a:t>
            </a:r>
            <a:endParaRPr lang="en-US" sz="5813" u="none" spc="569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938650" y="2896710"/>
            <a:ext cx="13356836" cy="88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1"/>
              </a:lnSpc>
              <a:spcBef>
                <a:spcPct val="0"/>
              </a:spcBef>
            </a:pPr>
            <a:r>
              <a:rPr lang="en-US" sz="5276" b="1" dirty="0" err="1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Herramientas</a:t>
            </a:r>
            <a:r>
              <a:rPr lang="en-US" sz="5276" b="1" dirty="0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 de </a:t>
            </a:r>
            <a:r>
              <a:rPr lang="en-US" sz="5276" b="1" dirty="0" err="1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diseño</a:t>
            </a:r>
            <a:r>
              <a:rPr lang="en-US" sz="5276" b="1" dirty="0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 y gestion.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81910" y="4650662"/>
            <a:ext cx="523519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094"/>
              </a:lnSpc>
              <a:spcBef>
                <a:spcPct val="0"/>
              </a:spcBef>
            </a:pP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(Diseño de Interfaz y) </a:t>
            </a:r>
            <a:r>
              <a:rPr lang="en-US" spc="148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Prototipo</a:t>
            </a:r>
            <a:endParaRPr lang="en-US" spc="148" dirty="0">
              <a:solidFill>
                <a:srgbClr val="231F20"/>
              </a:solidFill>
              <a:latin typeface="TT Drugs"/>
              <a:ea typeface="TT Drugs"/>
              <a:cs typeface="TT Drugs"/>
              <a:sym typeface="TT Drug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881910" y="8554354"/>
            <a:ext cx="523519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4"/>
              </a:lnSpc>
              <a:spcBef>
                <a:spcPct val="0"/>
              </a:spcBef>
            </a:pPr>
            <a:r>
              <a:rPr lang="en-US" sz="1517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</a:t>
            </a: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Control de </a:t>
            </a:r>
            <a:r>
              <a:rPr lang="en-US" spc="148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Versiones</a:t>
            </a: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81910" y="6542603"/>
            <a:ext cx="523519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4"/>
              </a:lnSpc>
              <a:spcBef>
                <a:spcPct val="0"/>
              </a:spcBef>
            </a:pP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(</a:t>
            </a:r>
            <a:r>
              <a:rPr lang="en-US" spc="148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Diagramas</a:t>
            </a: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 </a:t>
            </a:r>
            <a:r>
              <a:rPr lang="en-US" spc="148" dirty="0" err="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Flujo</a:t>
            </a:r>
            <a:r>
              <a:rPr lang="en-US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y Base de Datos</a:t>
            </a:r>
            <a:r>
              <a:rPr lang="en-US" sz="1517" spc="148" dirty="0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1FE725-253F-C88D-6370-9871CC4D7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1668"/>
            <a:ext cx="18288000" cy="81436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AF97F44-AD7D-A969-75F2-D87FB285075D}"/>
              </a:ext>
            </a:extLst>
          </p:cNvPr>
          <p:cNvSpPr txBox="1"/>
          <p:nvPr/>
        </p:nvSpPr>
        <p:spPr>
          <a:xfrm>
            <a:off x="304800" y="348336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dirty="0">
                <a:latin typeface="TT Drugs Bold" panose="020B0604020202020204" charset="0"/>
              </a:rPr>
              <a:t>Cronograma</a:t>
            </a:r>
            <a:r>
              <a:rPr lang="es-MX" sz="3600" dirty="0"/>
              <a:t>: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5367" y="468413"/>
            <a:ext cx="6860547" cy="101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3"/>
              </a:lnSpc>
              <a:spcBef>
                <a:spcPct val="0"/>
              </a:spcBef>
            </a:pPr>
            <a:r>
              <a:rPr lang="en-US" sz="5980" spc="586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REFERENCIAS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3818" y="6464310"/>
            <a:ext cx="5243646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jjjjjjjjjjjjjjjj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25367" y="1701536"/>
            <a:ext cx="19006358" cy="9582698"/>
            <a:chOff x="0" y="0"/>
            <a:chExt cx="5211501" cy="26275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1501" cy="2627555"/>
            </a:xfrm>
            <a:custGeom>
              <a:avLst/>
              <a:gdLst/>
              <a:ahLst/>
              <a:cxnLst/>
              <a:rect l="l" t="t" r="r" b="b"/>
              <a:pathLst>
                <a:path w="5211501" h="2627555">
                  <a:moveTo>
                    <a:pt x="1629" y="0"/>
                  </a:moveTo>
                  <a:lnTo>
                    <a:pt x="5209872" y="0"/>
                  </a:lnTo>
                  <a:cubicBezTo>
                    <a:pt x="5210772" y="0"/>
                    <a:pt x="5211501" y="729"/>
                    <a:pt x="5211501" y="1629"/>
                  </a:cubicBezTo>
                  <a:lnTo>
                    <a:pt x="5211501" y="2625925"/>
                  </a:lnTo>
                  <a:cubicBezTo>
                    <a:pt x="5211501" y="2626357"/>
                    <a:pt x="5211330" y="2626772"/>
                    <a:pt x="5211024" y="2627077"/>
                  </a:cubicBezTo>
                  <a:cubicBezTo>
                    <a:pt x="5210718" y="2627383"/>
                    <a:pt x="5210304" y="2627555"/>
                    <a:pt x="5209872" y="2627555"/>
                  </a:cubicBezTo>
                  <a:lnTo>
                    <a:pt x="1629" y="2627555"/>
                  </a:lnTo>
                  <a:cubicBezTo>
                    <a:pt x="729" y="2627555"/>
                    <a:pt x="0" y="2626825"/>
                    <a:pt x="0" y="2625925"/>
                  </a:cubicBezTo>
                  <a:lnTo>
                    <a:pt x="0" y="1629"/>
                  </a:lnTo>
                  <a:cubicBezTo>
                    <a:pt x="0" y="729"/>
                    <a:pt x="729" y="0"/>
                    <a:pt x="1629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211501" cy="264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6517" y="2024649"/>
            <a:ext cx="15494966" cy="619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0"/>
              </a:lnSpc>
            </a:pPr>
            <a:endParaRPr/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Asociación de Internet MX (AIMX). (2024). Estudio sobre el Estado de la Digitalización B2B en México 2023-2024.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asociaciondeinternet.mx"/>
              </a:rPr>
              <a:t>https://www.asociaciondeinternet.mx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asociaciondeinternet.mx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Duckett, J. (2020). HTML and CSS: Design and Build Websites. John Wiley &amp; Sons.</a:t>
            </a: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Forbes México. (2023). El reto de las SMEs: Más allá de la digitalización, la automatización de procesos.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3" tooltip="https://www.forbes.com.mx"/>
              </a:rPr>
              <a:t>https://www.forbes.com.mx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3" tooltip="https://www.forbes.com.mx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Gartner. (2023). Top Strategic Technology Trends for B2B Service Providers.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4" tooltip="https://www.gartner.com"/>
              </a:rPr>
              <a:t>https://www.gartner.com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4" tooltip="https://www.gartner.com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Krug, S. (2014). Don't Make Me Think, Revisited: A Common Sense Approach to Web Usability. New Riders.</a:t>
            </a: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Lucid Software Inc. (2025). Lucidchart: Diagramación inteligente y colaboración visual.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5" tooltip="https://www.lucidchart.com"/>
              </a:rPr>
              <a:t>https://www.lucidchart.com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5" tooltip="https://www.lucidchart.com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Nielsen Norman Group (NN/g). (2023). B2B Website UX: Designing for Efficiency and Trust.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6" tooltip="https://www.nngroup.com"/>
              </a:rPr>
              <a:t>https://www.nngroup.com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6" tooltip="https://www.nngroup.com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Nixon, R. (2021). Learning PHP, MySQL &amp; JavaScript: With jQuery, CSS &amp; HTML5. O'Reilly Media.</a:t>
            </a:r>
          </a:p>
          <a:p>
            <a:pPr algn="l">
              <a:lnSpc>
                <a:spcPts val="2370"/>
              </a:lnSpc>
            </a:pPr>
            <a:endParaRPr lang="en-US" sz="1717" b="1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algn="l">
              <a:lnSpc>
                <a:spcPts val="2370"/>
              </a:lnSpc>
            </a:pPr>
            <a:r>
              <a:rPr lang="en-US" sz="1717" b="1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Oracle Corporation. (2025). MySQL Documentation: Referencia del Desarrollador. </a:t>
            </a:r>
            <a:r>
              <a:rPr lang="en-US" sz="1717" b="1" u="sng" spc="16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7" tooltip="https://dev.mysql.com/doc/"/>
              </a:rPr>
              <a:t>https://dev.mysql.com/doc/</a:t>
            </a: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7" tooltip="https://dev.mysql.com/doc/"/>
            </a:endParaRPr>
          </a:p>
          <a:p>
            <a:pPr algn="l">
              <a:lnSpc>
                <a:spcPts val="2370"/>
              </a:lnSpc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7" tooltip="https://dev.mysql.com/doc/"/>
            </a:endParaRPr>
          </a:p>
          <a:p>
            <a:pPr marL="0" lvl="0" indent="0" algn="l">
              <a:lnSpc>
                <a:spcPts val="2370"/>
              </a:lnSpc>
              <a:spcBef>
                <a:spcPct val="0"/>
              </a:spcBef>
            </a:pPr>
            <a:endParaRPr lang="en-US" sz="1717" b="1" u="sng" spc="16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7" tooltip="https://dev.mysql.com/doc/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5367" y="468413"/>
            <a:ext cx="6860547" cy="101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3"/>
              </a:lnSpc>
              <a:spcBef>
                <a:spcPct val="0"/>
              </a:spcBef>
            </a:pPr>
            <a:r>
              <a:rPr lang="en-US" sz="5980" spc="586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REFERENCIAS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3818" y="6464310"/>
            <a:ext cx="5243646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jjjjjjjjjjjjjjjj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25367" y="1701536"/>
            <a:ext cx="19006358" cy="9582698"/>
            <a:chOff x="0" y="0"/>
            <a:chExt cx="5211501" cy="26275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1501" cy="2627555"/>
            </a:xfrm>
            <a:custGeom>
              <a:avLst/>
              <a:gdLst/>
              <a:ahLst/>
              <a:cxnLst/>
              <a:rect l="l" t="t" r="r" b="b"/>
              <a:pathLst>
                <a:path w="5211501" h="2627555">
                  <a:moveTo>
                    <a:pt x="1629" y="0"/>
                  </a:moveTo>
                  <a:lnTo>
                    <a:pt x="5209872" y="0"/>
                  </a:lnTo>
                  <a:cubicBezTo>
                    <a:pt x="5210772" y="0"/>
                    <a:pt x="5211501" y="729"/>
                    <a:pt x="5211501" y="1629"/>
                  </a:cubicBezTo>
                  <a:lnTo>
                    <a:pt x="5211501" y="2625925"/>
                  </a:lnTo>
                  <a:cubicBezTo>
                    <a:pt x="5211501" y="2626357"/>
                    <a:pt x="5211330" y="2626772"/>
                    <a:pt x="5211024" y="2627077"/>
                  </a:cubicBezTo>
                  <a:cubicBezTo>
                    <a:pt x="5210718" y="2627383"/>
                    <a:pt x="5210304" y="2627555"/>
                    <a:pt x="5209872" y="2627555"/>
                  </a:cubicBezTo>
                  <a:lnTo>
                    <a:pt x="1629" y="2627555"/>
                  </a:lnTo>
                  <a:cubicBezTo>
                    <a:pt x="729" y="2627555"/>
                    <a:pt x="0" y="2626825"/>
                    <a:pt x="0" y="2625925"/>
                  </a:cubicBezTo>
                  <a:lnTo>
                    <a:pt x="0" y="1629"/>
                  </a:lnTo>
                  <a:cubicBezTo>
                    <a:pt x="0" y="729"/>
                    <a:pt x="729" y="0"/>
                    <a:pt x="1629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5211501" cy="264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08133" y="2224355"/>
            <a:ext cx="17179867" cy="7557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4"/>
              </a:lnSpc>
            </a:pPr>
            <a:endParaRPr/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Pressman, R. S., &amp; Maxim, B. R. (2021). Ingeniería de Software: Un Enfoque Práctico (9ª ed.). McGraw-Hill Education.</a:t>
            </a:r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Ries, E. (2011). The Lean Startup: How Today's Entrepreneurs Use Continuous Innovation to Create Radically Successful Businesses. Crown Business.</a:t>
            </a:r>
          </a:p>
          <a:p>
            <a:pPr algn="l">
              <a:lnSpc>
                <a:spcPts val="2094"/>
              </a:lnSpc>
            </a:pPr>
            <a:endParaRPr lang="en-US" sz="1517" b="1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Schwaber, K., &amp; Sutherland, J. (2020). La Guía de Scrum: La Guía Definitiva de Scrum, Las Reglas del Juego. Scrum.org.</a:t>
            </a:r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Ullman, L. (2017). PHP and MySQL for Dynamic Web Sites: Visual QuickPro Guide (5ª ed.). Peachpit Press.</a:t>
            </a:r>
          </a:p>
          <a:p>
            <a:pPr algn="l">
              <a:lnSpc>
                <a:spcPts val="2094"/>
              </a:lnSpc>
            </a:pPr>
            <a:endParaRPr lang="en-US" sz="1517" b="1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Vertex42. (2025). Simple Gantt Chart Template for Excel. </a:t>
            </a:r>
          </a:p>
          <a:p>
            <a:pPr algn="l">
              <a:lnSpc>
                <a:spcPts val="2094"/>
              </a:lnSpc>
            </a:pPr>
            <a:endParaRPr lang="en-US" sz="1517" b="1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Asociación de Internet MX (AIMX). (2024). Estudio sobre el Estado de la Digitalización B2B en México 2023-2024. https://www.asociaciondeinternet.mx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Duckett, J. (2020). HTML and CSS: Design and Build Websites. John Wiley &amp; Sons.</a:t>
            </a: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Forbes México. (2023). El reto de las SMEs: Más allá de la digitalización, la automatización de procesos. https://www.forbes.com.mx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Gartner. (2023). Top Strategic Technology Trends for B2B Service Providers. https://www.gartner.com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Krug, S. (2014). Don't Make Me Think, Revisited: A Common Sense Approach to Web Usability. New Riders.</a:t>
            </a: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Lucid Software Inc. (2025). Lucidchart: Diagramación inteligente y colaboración visual. https://www.lucidchart.com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Nielsen Norman Group (NN/g). (2023). B2B Website UX: Designing for Efficiency and Trust. https://www.nngroup.com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Nixon, R. (2021). Learning PHP, MySQL &amp; JavaScript: With jQuery, CSS &amp; HTML5. O'Reilly Media.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u="sng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  <a:hlinkClick r:id="rId2" tooltip="https://www.vertex42.com/ExcelTemplates/simple-gantt-chart.html"/>
              </a:rPr>
              <a:t>Oracle Corporation. (2025). MySQL Documentation: Referencia del Desarrollador. https://dev.mysql.com/doc/</a:t>
            </a: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endParaRPr lang="en-US" sz="1517" b="1" u="sng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  <a:hlinkClick r:id="rId2" tooltip="https://www.vertex42.com/ExcelTemplates/simple-gantt-chart.html"/>
            </a:endParaRPr>
          </a:p>
          <a:p>
            <a:pPr algn="l">
              <a:lnSpc>
                <a:spcPts val="2094"/>
              </a:lnSpc>
            </a:pPr>
            <a:r>
              <a:rPr lang="en-US" sz="1517" b="1" spc="148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Welling, L., &amp; Thomson, L. (2018). Desarrollo de aplicaciones web con PHP y MySQL (5ª ed.). Anaya Multimedia.</a:t>
            </a:r>
          </a:p>
          <a:p>
            <a:pPr marL="0" lvl="0" indent="0" algn="l">
              <a:lnSpc>
                <a:spcPts val="2094"/>
              </a:lnSpc>
              <a:spcBef>
                <a:spcPct val="0"/>
              </a:spcBef>
            </a:pPr>
            <a:endParaRPr lang="en-US" sz="1517" b="1" spc="148">
              <a:solidFill>
                <a:srgbClr val="231F20"/>
              </a:solidFill>
              <a:latin typeface="TT Drugs Bold"/>
              <a:ea typeface="TT Drugs Bold"/>
              <a:cs typeface="TT Drugs Bold"/>
              <a:sym typeface="TT Drugs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77" b="-9277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5158032" y="1697058"/>
            <a:ext cx="7971935" cy="6892884"/>
            <a:chOff x="0" y="0"/>
            <a:chExt cx="1014292" cy="8770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4292" cy="877001"/>
            </a:xfrm>
            <a:custGeom>
              <a:avLst/>
              <a:gdLst/>
              <a:ahLst/>
              <a:cxnLst/>
              <a:rect l="l" t="t" r="r" b="b"/>
              <a:pathLst>
                <a:path w="1014292" h="877001">
                  <a:moveTo>
                    <a:pt x="0" y="0"/>
                  </a:moveTo>
                  <a:lnTo>
                    <a:pt x="1014292" y="0"/>
                  </a:lnTo>
                  <a:lnTo>
                    <a:pt x="1014292" y="877001"/>
                  </a:lnTo>
                  <a:lnTo>
                    <a:pt x="0" y="877001"/>
                  </a:lnTo>
                  <a:close/>
                </a:path>
              </a:pathLst>
            </a:custGeom>
            <a:solidFill>
              <a:srgbClr val="4BACC6">
                <a:alpha val="8274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014292" cy="896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01670" y="2101680"/>
            <a:ext cx="7084660" cy="6083640"/>
            <a:chOff x="0" y="0"/>
            <a:chExt cx="1368163" cy="1174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8163" cy="1174850"/>
            </a:xfrm>
            <a:custGeom>
              <a:avLst/>
              <a:gdLst/>
              <a:ahLst/>
              <a:cxnLst/>
              <a:rect l="l" t="t" r="r" b="b"/>
              <a:pathLst>
                <a:path w="1368163" h="1174850">
                  <a:moveTo>
                    <a:pt x="0" y="0"/>
                  </a:moveTo>
                  <a:lnTo>
                    <a:pt x="1368163" y="0"/>
                  </a:lnTo>
                  <a:lnTo>
                    <a:pt x="1368163" y="1174850"/>
                  </a:lnTo>
                  <a:lnTo>
                    <a:pt x="0" y="1174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14300"/>
              <a:ext cx="1368163" cy="1289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851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15540" y="2540321"/>
            <a:ext cx="7060654" cy="4596759"/>
            <a:chOff x="0" y="0"/>
            <a:chExt cx="9414206" cy="612901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80975"/>
              <a:ext cx="9414206" cy="4620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4053"/>
                </a:lnSpc>
                <a:spcBef>
                  <a:spcPct val="0"/>
                </a:spcBef>
              </a:pPr>
              <a:r>
                <a:rPr lang="en-US" sz="10183" spc="142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GRACIAS A TODOS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9612" y="5366723"/>
              <a:ext cx="8416920" cy="762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874"/>
                </a:lnSpc>
                <a:spcBef>
                  <a:spcPct val="0"/>
                </a:spcBef>
              </a:pPr>
              <a:r>
                <a:rPr lang="en-US" sz="3532" spc="4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Por su tiempo y dedicación.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1361</Words>
  <Application>Microsoft Office PowerPoint</Application>
  <PresentationFormat>Personalizado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Calibri</vt:lpstr>
      <vt:lpstr>TT Drugs Bold</vt:lpstr>
      <vt:lpstr>Arial</vt:lpstr>
      <vt:lpstr>TT Drugs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brief de la compañia moderno minimalista celeste y blanco</dc:title>
  <dc:creator>michael cera</dc:creator>
  <cp:lastModifiedBy>michael cera</cp:lastModifiedBy>
  <cp:revision>2</cp:revision>
  <dcterms:created xsi:type="dcterms:W3CDTF">2006-08-16T00:00:00Z</dcterms:created>
  <dcterms:modified xsi:type="dcterms:W3CDTF">2025-11-04T03:32:59Z</dcterms:modified>
  <dc:identifier>DAG3qJ_3KGk</dc:identifier>
</cp:coreProperties>
</file>